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5E70-2214-B96B-4AB6-925439054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C1938-7F0A-6113-829C-0AA72666D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4F5D2-FF39-B2AA-C070-82622559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F0BAF-95AC-53BA-2011-7BD3E439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63C86-BA6A-A9C0-6940-DE081DE73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03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FCDA-3A74-1173-8845-1B85DD7F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817F5-060B-C56E-DFAA-90EAF5B1B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A2736-4675-DBB0-CF8F-92E08E61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6E521-ED20-E6D1-4195-2D3188A1C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96A90-CFA7-740D-36A9-406BB6D4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4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417F-AEBF-B51E-C60B-9E798C186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65943-6523-2392-F7A5-5BE1EE600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B4345-0F55-B612-31C7-DDC329D4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B4782-53DF-619D-C138-2F67C4B5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1015E-2E78-677F-6DAC-27F21589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751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876E-9115-D452-B8C6-FF4EBF56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F3794-5865-D507-1232-E6F2A254A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C4366-A3C0-3471-4BE6-33D78EEE7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97B85-CF0A-F5F5-34F3-967BB5AF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257C1-DD5B-4E48-D16A-74166259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A7201-E8A4-6C66-E3E4-84EA86B1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61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9F27C-7127-D06B-3599-79A77754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5A69D-6E36-D932-7AB4-931F97B94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346E2-EA77-37C8-AE6E-C946E9577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9C2D3-377E-C421-B621-91EDEBCD0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B99AE7-241F-06A6-9D52-B505FCDDA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A9655-031F-9F13-7855-E44E2E57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6EA7E-4A18-C302-0797-6DC6ABC95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326108-37A0-00D4-1B30-79836C71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D903-3855-FB12-19B2-31653A0E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326D1F-15AC-BD94-0023-F60480D5A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169CB-4339-1F44-D805-C060AB7F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46559-8A68-63D6-EA0B-C8EA1174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0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1A386-CB69-F69C-D732-138F20DB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70939-10DF-C5DF-594C-1FC1956E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1C341-F0E0-8BF1-03AE-7E0278EB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2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D87C-5661-1BE6-FA5D-7EFA0DD2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C570-C6FD-4550-02BA-FB925C74A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13379-7692-EF2F-2D49-B7D8C804E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AAA5A-D3D4-29DE-A806-903F64E8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BEB6C-2243-E534-1B93-BEB43E12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2FAE9-4D16-A59D-8F17-6E455026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88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61F0-7CBB-4ED3-BAC5-6376949C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2233E-A81A-46E9-596C-5653079EE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C8405-FFC2-C55F-0E82-395E1C732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B3F616-D76D-D81E-82E9-13D79AC3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386F3-25DE-4E40-0F72-194965B7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8EE5-9DA5-F463-E490-8119E8A7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35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1430-9EB4-B584-9598-078FB2D2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B391E-C505-3D5F-4ED4-B00F8F6F9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E8588-7CBA-0A92-5545-4A53D37A4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98D9D-8E82-1E2A-E87C-BC8EC867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D6BCA-9741-BD56-3B00-9D70BA7B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24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798A87-C51C-E722-B11F-BDF414518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867868-458B-B7F8-3BD3-F4F653795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6965-5652-94C9-40FE-47D807F73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8E21-54E9-1AE1-9FD5-79C924086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FD034-CBAF-9456-F964-BB7729B8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89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F0282-64F0-F24C-A4AC-A1CB060F0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9C42B-65B8-EF64-CA5C-56A5A7E81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A2495-AEB7-1330-4F73-256D4E467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A36A3-EFC0-46A0-985E-6A1A73CBFF6E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C9B59-F9D5-8FF2-995B-9F7087701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733A-D119-1C33-1669-C0DEBF410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78ED3-778D-405C-81CA-A78CBAF63D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18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FD5D52-49C1-4A85-B149-5546B13C2028}"/>
              </a:ext>
            </a:extLst>
          </p:cNvPr>
          <p:cNvSpPr/>
          <p:nvPr/>
        </p:nvSpPr>
        <p:spPr>
          <a:xfrm>
            <a:off x="8686800" y="0"/>
            <a:ext cx="3502152" cy="274320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5602E-BAFB-EF5B-1350-77B2F2593917}"/>
              </a:ext>
            </a:extLst>
          </p:cNvPr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C3C0E-0D8E-E893-CE43-F56D5ADF26FF}"/>
              </a:ext>
            </a:extLst>
          </p:cNvPr>
          <p:cNvSpPr txBox="1"/>
          <p:nvPr/>
        </p:nvSpPr>
        <p:spPr>
          <a:xfrm>
            <a:off x="457200" y="1371600"/>
            <a:ext cx="10058400" cy="10972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4400" b="1">
                <a:solidFill>
                  <a:srgbClr val="FFFFFF"/>
                </a:solidFill>
                <a:latin typeface="Calibri" panose="020F0502020204030204" pitchFamily="34" charset="0"/>
              </a:rPr>
              <a:t>Agentic Microservices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53462-4FC3-C557-3AF5-020FE29FDC57}"/>
              </a:ext>
            </a:extLst>
          </p:cNvPr>
          <p:cNvSpPr txBox="1"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2200">
                <a:solidFill>
                  <a:srgbClr val="4A90D9"/>
                </a:solidFill>
                <a:latin typeface="Calibri" panose="020F0502020204030204" pitchFamily="34" charset="0"/>
              </a:rPr>
              <a:t>AI-Powered Observability, Auto-Scaling and Performance Engineering</a:t>
            </a:r>
            <a:endParaRPr lang="en-IN" sz="2200">
              <a:solidFill>
                <a:srgbClr val="4A90D9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0E3B9-C5FC-ABC7-C552-A877E400AE34}"/>
              </a:ext>
            </a:extLst>
          </p:cNvPr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500" i="1">
                <a:solidFill>
                  <a:srgbClr val="F47B20"/>
                </a:solidFill>
                <a:latin typeface="Calibri" panose="020F0502020204030204" pitchFamily="34" charset="0"/>
              </a:rPr>
              <a:t>Cloud-Native  |  ECS Fargate  |  Spring Boot  |  LLM-Driven RCA</a:t>
            </a:r>
            <a:endParaRPr lang="en-IN" sz="1500" i="1">
              <a:solidFill>
                <a:srgbClr val="F47B2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D8E57-F118-1BE4-B84F-6A73CEDC9315}"/>
              </a:ext>
            </a:extLst>
          </p:cNvPr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>
                <a:solidFill>
                  <a:srgbClr val="FFFFFF"/>
                </a:solidFill>
                <a:latin typeface="Calibri" panose="020F0502020204030204" pitchFamily="34" charset="0"/>
              </a:rPr>
              <a:t>Confidential | Engineering Excellence | 2026</a:t>
            </a:r>
          </a:p>
        </p:txBody>
      </p:sp>
    </p:spTree>
    <p:extLst>
      <p:ext uri="{BB962C8B-B14F-4D97-AF65-F5344CB8AC3E}">
        <p14:creationId xmlns:p14="http://schemas.microsoft.com/office/powerpoint/2010/main" val="3532338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C5ADF3-9794-EDF6-0ABE-E54ABB899C5F}"/>
              </a:ext>
            </a:extLst>
          </p:cNvPr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400" b="1">
                <a:solidFill>
                  <a:srgbClr val="1B2A4A"/>
                </a:solidFill>
                <a:latin typeface="Calibri" panose="020F0502020204030204" pitchFamily="34" charset="0"/>
              </a:rPr>
              <a:t>Executive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F6C0FC-5C9D-5768-EEE4-6E4CD94E6A6D}"/>
              </a:ext>
            </a:extLst>
          </p:cNvPr>
          <p:cNvSpPr/>
          <p:nvPr/>
        </p:nvSpPr>
        <p:spPr>
          <a:xfrm>
            <a:off x="365760" y="822960"/>
            <a:ext cx="11430000" cy="64008"/>
          </a:xfrm>
          <a:prstGeom prst="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5C51C-5EE1-5DDB-A76F-1936044B3087}"/>
              </a:ext>
            </a:extLst>
          </p:cNvPr>
          <p:cNvSpPr/>
          <p:nvPr/>
        </p:nvSpPr>
        <p:spPr>
          <a:xfrm>
            <a:off x="274320" y="1005840"/>
            <a:ext cx="3749040" cy="59436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9BCDF-D212-602B-158A-4DC1C7788C89}"/>
              </a:ext>
            </a:extLst>
          </p:cNvPr>
          <p:cNvSpPr txBox="1"/>
          <p:nvPr/>
        </p:nvSpPr>
        <p:spPr>
          <a:xfrm>
            <a:off x="274320" y="1005840"/>
            <a:ext cx="374904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CHALLENGE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A648F6-A733-BE11-44CC-B84CCB1BE9B8}"/>
              </a:ext>
            </a:extLst>
          </p:cNvPr>
          <p:cNvSpPr/>
          <p:nvPr/>
        </p:nvSpPr>
        <p:spPr>
          <a:xfrm>
            <a:off x="274320" y="1600200"/>
            <a:ext cx="3749040" cy="457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39263-5F1F-EBCC-9A9A-30B3F33FECCB}"/>
              </a:ext>
            </a:extLst>
          </p:cNvPr>
          <p:cNvSpPr txBox="1"/>
          <p:nvPr/>
        </p:nvSpPr>
        <p:spPr>
          <a:xfrm>
            <a:off x="411480" y="1737360"/>
            <a:ext cx="3566160" cy="42976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200">
                <a:solidFill>
                  <a:srgbClr val="1B2A4A"/>
                </a:solidFill>
                <a:latin typeface="Calibri" panose="020F0502020204030204" pitchFamily="34" charset="0"/>
              </a:rPr>
              <a:t>Legacy monolithic architecture</a:t>
            </a:r>
          </a:p>
          <a:p>
            <a:endParaRPr lang="en-US" sz="12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US" sz="1200">
                <a:solidFill>
                  <a:srgbClr val="1B2A4A"/>
                </a:solidFill>
                <a:latin typeface="Calibri" panose="020F0502020204030204" pitchFamily="34" charset="0"/>
              </a:rPr>
              <a:t>Zero observability or metrics</a:t>
            </a:r>
          </a:p>
          <a:p>
            <a:endParaRPr lang="en-US" sz="12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US" sz="1200">
                <a:solidFill>
                  <a:srgbClr val="1B2A4A"/>
                </a:solidFill>
                <a:latin typeface="Calibri" panose="020F0502020204030204" pitchFamily="34" charset="0"/>
              </a:rPr>
              <a:t>Manual incident response only</a:t>
            </a:r>
          </a:p>
          <a:p>
            <a:endParaRPr lang="en-US" sz="12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US" sz="1200">
                <a:solidFill>
                  <a:srgbClr val="1B2A4A"/>
                </a:solidFill>
                <a:latin typeface="Calibri" panose="020F0502020204030204" pitchFamily="34" charset="0"/>
              </a:rPr>
              <a:t>MTTR avg: 45 minutes</a:t>
            </a:r>
          </a:p>
          <a:p>
            <a:endParaRPr lang="en-US" sz="12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US" sz="1200">
                <a:solidFill>
                  <a:srgbClr val="1B2A4A"/>
                </a:solidFill>
                <a:latin typeface="Calibri" panose="020F0502020204030204" pitchFamily="34" charset="0"/>
              </a:rPr>
              <a:t>No auto-scaling capability</a:t>
            </a:r>
            <a:endParaRPr lang="en-IN" sz="12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500EA7-F4E7-769A-D2EC-419C97A5A1E1}"/>
              </a:ext>
            </a:extLst>
          </p:cNvPr>
          <p:cNvSpPr/>
          <p:nvPr/>
        </p:nvSpPr>
        <p:spPr>
          <a:xfrm>
            <a:off x="4206240" y="1005840"/>
            <a:ext cx="3749040" cy="59436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52812-DA51-9ECB-BC68-16F06EA8BBCC}"/>
              </a:ext>
            </a:extLst>
          </p:cNvPr>
          <p:cNvSpPr txBox="1"/>
          <p:nvPr/>
        </p:nvSpPr>
        <p:spPr>
          <a:xfrm>
            <a:off x="4206240" y="1005840"/>
            <a:ext cx="374904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1A81DD-598D-03D4-513F-1DBB1F0B53B2}"/>
              </a:ext>
            </a:extLst>
          </p:cNvPr>
          <p:cNvSpPr/>
          <p:nvPr/>
        </p:nvSpPr>
        <p:spPr>
          <a:xfrm>
            <a:off x="4206240" y="1600200"/>
            <a:ext cx="3749040" cy="457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B7495-B56E-585B-270D-57C7F02C3D24}"/>
              </a:ext>
            </a:extLst>
          </p:cNvPr>
          <p:cNvSpPr txBox="1"/>
          <p:nvPr/>
        </p:nvSpPr>
        <p:spPr>
          <a:xfrm>
            <a:off x="4343400" y="1737360"/>
            <a:ext cx="3566160" cy="42976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5-service microservices mesh on ECS Fargate</a:t>
            </a:r>
          </a:p>
          <a:p>
            <a:endParaRPr lang="en-IN" sz="12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AI debug agent (LangGraph)</a:t>
            </a:r>
          </a:p>
          <a:p>
            <a:endParaRPr lang="en-IN" sz="12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Prometheus + Grafana + Loki stack</a:t>
            </a:r>
          </a:p>
          <a:p>
            <a:endParaRPr lang="en-IN" sz="12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GitHub Actions CI/CD</a:t>
            </a:r>
          </a:p>
          <a:p>
            <a:endParaRPr lang="en-IN" sz="12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CloudFormation IaC (3 stacks)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61972-F9D5-4C1E-7F20-7D287AA7647A}"/>
              </a:ext>
            </a:extLst>
          </p:cNvPr>
          <p:cNvSpPr/>
          <p:nvPr/>
        </p:nvSpPr>
        <p:spPr>
          <a:xfrm>
            <a:off x="8138160" y="1005840"/>
            <a:ext cx="3749040" cy="59436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715C45-1C76-FC63-0B85-A1B1173F5579}"/>
              </a:ext>
            </a:extLst>
          </p:cNvPr>
          <p:cNvSpPr txBox="1"/>
          <p:nvPr/>
        </p:nvSpPr>
        <p:spPr>
          <a:xfrm>
            <a:off x="8138160" y="1005840"/>
            <a:ext cx="374904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65127D-C024-EB4C-1881-034F0119F98D}"/>
              </a:ext>
            </a:extLst>
          </p:cNvPr>
          <p:cNvSpPr/>
          <p:nvPr/>
        </p:nvSpPr>
        <p:spPr>
          <a:xfrm>
            <a:off x="8138160" y="1600200"/>
            <a:ext cx="3749040" cy="457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ABF532-D656-554C-9389-12E7B5831DB8}"/>
              </a:ext>
            </a:extLst>
          </p:cNvPr>
          <p:cNvSpPr txBox="1"/>
          <p:nvPr/>
        </p:nvSpPr>
        <p:spPr>
          <a:xfrm>
            <a:off x="8138160" y="1828800"/>
            <a:ext cx="3749040" cy="7315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4200" b="1">
                <a:solidFill>
                  <a:srgbClr val="F47B20"/>
                </a:solidFill>
                <a:latin typeface="Calibri" panose="020F0502020204030204" pitchFamily="34" charset="0"/>
              </a:rPr>
              <a:t>60%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AD40DB-8B77-8740-DB3D-5BB505B17D4C}"/>
              </a:ext>
            </a:extLst>
          </p:cNvPr>
          <p:cNvSpPr txBox="1"/>
          <p:nvPr/>
        </p:nvSpPr>
        <p:spPr>
          <a:xfrm>
            <a:off x="8138160" y="2606040"/>
            <a:ext cx="374904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Faster MTTR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3A31C-81EA-7633-3A85-94C9A4F54C48}"/>
              </a:ext>
            </a:extLst>
          </p:cNvPr>
          <p:cNvSpPr txBox="1"/>
          <p:nvPr/>
        </p:nvSpPr>
        <p:spPr>
          <a:xfrm>
            <a:off x="8138160" y="3108960"/>
            <a:ext cx="3749040" cy="7315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4200" b="1">
                <a:solidFill>
                  <a:srgbClr val="F47B20"/>
                </a:solidFill>
                <a:latin typeface="Calibri" panose="020F0502020204030204" pitchFamily="34" charset="0"/>
              </a:rPr>
              <a:t>40%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08C8A2-9411-8C50-5B7A-687AB821E916}"/>
              </a:ext>
            </a:extLst>
          </p:cNvPr>
          <p:cNvSpPr txBox="1"/>
          <p:nvPr/>
        </p:nvSpPr>
        <p:spPr>
          <a:xfrm>
            <a:off x="8138160" y="3886200"/>
            <a:ext cx="374904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Cost Reduction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0124E7-CEA7-0BED-1E1C-1EE5CF676809}"/>
              </a:ext>
            </a:extLst>
          </p:cNvPr>
          <p:cNvSpPr txBox="1"/>
          <p:nvPr/>
        </p:nvSpPr>
        <p:spPr>
          <a:xfrm>
            <a:off x="8138160" y="4389120"/>
            <a:ext cx="374904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400" b="1">
                <a:solidFill>
                  <a:srgbClr val="F47B20"/>
                </a:solidFill>
                <a:latin typeface="Calibri" panose="020F0502020204030204" pitchFamily="34" charset="0"/>
              </a:rPr>
              <a:t>&lt;500ms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C69760-5BF8-C0C2-7397-9A4CC0F2E3D1}"/>
              </a:ext>
            </a:extLst>
          </p:cNvPr>
          <p:cNvSpPr txBox="1"/>
          <p:nvPr/>
        </p:nvSpPr>
        <p:spPr>
          <a:xfrm>
            <a:off x="8138160" y="5074920"/>
            <a:ext cx="374904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P99 SLA Achieved</a:t>
            </a:r>
          </a:p>
        </p:txBody>
      </p:sp>
    </p:spTree>
    <p:extLst>
      <p:ext uri="{BB962C8B-B14F-4D97-AF65-F5344CB8AC3E}">
        <p14:creationId xmlns:p14="http://schemas.microsoft.com/office/powerpoint/2010/main" val="2609295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AFCCA0-50C0-1873-C275-661667C61589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3000" b="1">
                <a:solidFill>
                  <a:srgbClr val="1B2A4A"/>
                </a:solidFill>
                <a:latin typeface="Calibri" panose="020F0502020204030204" pitchFamily="34" charset="0"/>
              </a:rPr>
              <a:t>Platform Architecture - ECS Fargate on AWS</a:t>
            </a:r>
            <a:endParaRPr lang="en-IN" sz="3000" b="1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309B00-F820-C1C0-29E5-B7CBE6964F7E}"/>
              </a:ext>
            </a:extLst>
          </p:cNvPr>
          <p:cNvSpPr/>
          <p:nvPr/>
        </p:nvSpPr>
        <p:spPr>
          <a:xfrm>
            <a:off x="274320" y="914400"/>
            <a:ext cx="11612880" cy="73152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BA2A8-F2A4-19A2-E1F2-8AED03258A5C}"/>
              </a:ext>
            </a:extLst>
          </p:cNvPr>
          <p:cNvSpPr txBox="1"/>
          <p:nvPr/>
        </p:nvSpPr>
        <p:spPr>
          <a:xfrm>
            <a:off x="274320" y="914400"/>
            <a:ext cx="11612880" cy="7315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 panose="020F0502020204030204" pitchFamily="34" charset="0"/>
              </a:rPr>
              <a:t>INTERNET  &gt;&gt;  Application Load Balancer (internet-facing)  &gt;&gt;  Path-Based Routing</a:t>
            </a:r>
            <a:endParaRPr lang="en-IN" sz="13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063A79-DFDA-A0E9-6522-809EB9C538FD}"/>
              </a:ext>
            </a:extLst>
          </p:cNvPr>
          <p:cNvSpPr/>
          <p:nvPr/>
        </p:nvSpPr>
        <p:spPr>
          <a:xfrm>
            <a:off x="274320" y="1828800"/>
            <a:ext cx="11612880" cy="1463040"/>
          </a:xfrm>
          <a:prstGeom prst="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AFC2D-EBB2-6651-9A39-79F731778854}"/>
              </a:ext>
            </a:extLst>
          </p:cNvPr>
          <p:cNvSpPr txBox="1"/>
          <p:nvPr/>
        </p:nvSpPr>
        <p:spPr>
          <a:xfrm>
            <a:off x="365760" y="1874520"/>
            <a:ext cx="1143000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 b="1">
                <a:solidFill>
                  <a:srgbClr val="F47B20"/>
                </a:solidFill>
                <a:latin typeface="Calibri" panose="020F0502020204030204" pitchFamily="34" charset="0"/>
              </a:rPr>
              <a:t>ECS FARGATE - APPLICATION SERVICES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AF7864-1EFC-FDBB-6AC0-CA81E1365E2F}"/>
              </a:ext>
            </a:extLst>
          </p:cNvPr>
          <p:cNvSpPr/>
          <p:nvPr/>
        </p:nvSpPr>
        <p:spPr>
          <a:xfrm>
            <a:off x="365760" y="2240280"/>
            <a:ext cx="2011680" cy="822960"/>
          </a:xfrm>
          <a:prstGeom prst="round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A410A-B59F-815D-93F2-9D4DAF9B65C2}"/>
              </a:ext>
            </a:extLst>
          </p:cNvPr>
          <p:cNvSpPr txBox="1"/>
          <p:nvPr/>
        </p:nvSpPr>
        <p:spPr>
          <a:xfrm>
            <a:off x="365760" y="2240280"/>
            <a:ext cx="2011680" cy="8229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ecommerce :8090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DEB5FF-01E2-BA7E-E081-25BA95538895}"/>
              </a:ext>
            </a:extLst>
          </p:cNvPr>
          <p:cNvSpPr/>
          <p:nvPr/>
        </p:nvSpPr>
        <p:spPr>
          <a:xfrm>
            <a:off x="2514600" y="2240280"/>
            <a:ext cx="2011680" cy="822960"/>
          </a:xfrm>
          <a:prstGeom prst="round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3E933-65C2-E678-368B-000B701EABE8}"/>
              </a:ext>
            </a:extLst>
          </p:cNvPr>
          <p:cNvSpPr txBox="1"/>
          <p:nvPr/>
        </p:nvSpPr>
        <p:spPr>
          <a:xfrm>
            <a:off x="2514600" y="2240280"/>
            <a:ext cx="2011680" cy="8229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product :8090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65A9F7-CF06-8510-3F48-0DF93ADD030D}"/>
              </a:ext>
            </a:extLst>
          </p:cNvPr>
          <p:cNvSpPr/>
          <p:nvPr/>
        </p:nvSpPr>
        <p:spPr>
          <a:xfrm>
            <a:off x="4663440" y="2240280"/>
            <a:ext cx="2011680" cy="822960"/>
          </a:xfrm>
          <a:prstGeom prst="round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A283E-5C65-6133-F906-9572570470B8}"/>
              </a:ext>
            </a:extLst>
          </p:cNvPr>
          <p:cNvSpPr txBox="1"/>
          <p:nvPr/>
        </p:nvSpPr>
        <p:spPr>
          <a:xfrm>
            <a:off x="4663440" y="2240280"/>
            <a:ext cx="2011680" cy="8229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images :8090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D4D4C9-D143-4F65-D3FB-692CBBD738C6}"/>
              </a:ext>
            </a:extLst>
          </p:cNvPr>
          <p:cNvSpPr/>
          <p:nvPr/>
        </p:nvSpPr>
        <p:spPr>
          <a:xfrm>
            <a:off x="6812280" y="2240280"/>
            <a:ext cx="2377440" cy="82296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04672-105E-310B-3510-F2507AE7E011}"/>
              </a:ext>
            </a:extLst>
          </p:cNvPr>
          <p:cNvSpPr txBox="1"/>
          <p:nvPr/>
        </p:nvSpPr>
        <p:spPr>
          <a:xfrm>
            <a:off x="6812280" y="2240280"/>
            <a:ext cx="2377440" cy="8229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obs-server :8091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BA018D-3BD1-7092-8A76-E9CF7615260F}"/>
              </a:ext>
            </a:extLst>
          </p:cNvPr>
          <p:cNvSpPr/>
          <p:nvPr/>
        </p:nvSpPr>
        <p:spPr>
          <a:xfrm>
            <a:off x="9326880" y="2240280"/>
            <a:ext cx="2560320" cy="82296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F4D93-144A-327C-0A2B-6BF929533B39}"/>
              </a:ext>
            </a:extLst>
          </p:cNvPr>
          <p:cNvSpPr txBox="1"/>
          <p:nvPr/>
        </p:nvSpPr>
        <p:spPr>
          <a:xfrm>
            <a:off x="9326880" y="2240280"/>
            <a:ext cx="2560320" cy="8229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obs-debug-agent :8092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A964EB-B142-CEE3-7C0F-E70C8B7F62A7}"/>
              </a:ext>
            </a:extLst>
          </p:cNvPr>
          <p:cNvSpPr/>
          <p:nvPr/>
        </p:nvSpPr>
        <p:spPr>
          <a:xfrm>
            <a:off x="274320" y="3429000"/>
            <a:ext cx="11612880" cy="1280160"/>
          </a:xfrm>
          <a:prstGeom prst="rect">
            <a:avLst/>
          </a:prstGeom>
          <a:solidFill>
            <a:srgbClr val="1E6B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1E8753-B0CD-2B5E-E613-A40CD300FB9F}"/>
              </a:ext>
            </a:extLst>
          </p:cNvPr>
          <p:cNvSpPr txBox="1"/>
          <p:nvPr/>
        </p:nvSpPr>
        <p:spPr>
          <a:xfrm>
            <a:off x="365760" y="3474720"/>
            <a:ext cx="1143000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Calibri" panose="020F0502020204030204" pitchFamily="34" charset="0"/>
              </a:rPr>
              <a:t>OBSERVABILITY STACK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63B408-02EA-33DB-E82A-8A167596D718}"/>
              </a:ext>
            </a:extLst>
          </p:cNvPr>
          <p:cNvSpPr/>
          <p:nvPr/>
        </p:nvSpPr>
        <p:spPr>
          <a:xfrm>
            <a:off x="914400" y="3840480"/>
            <a:ext cx="301752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0E8AF5-4640-4DDE-C9CB-740BAC4B140F}"/>
              </a:ext>
            </a:extLst>
          </p:cNvPr>
          <p:cNvSpPr txBox="1"/>
          <p:nvPr/>
        </p:nvSpPr>
        <p:spPr>
          <a:xfrm>
            <a:off x="914400" y="3840480"/>
            <a:ext cx="301752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 b="1">
                <a:solidFill>
                  <a:srgbClr val="1B2A4A"/>
                </a:solidFill>
                <a:latin typeface="Calibri" panose="020F0502020204030204" pitchFamily="34" charset="0"/>
              </a:rPr>
              <a:t>Prometheus :9090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A4E9C5-9917-DD23-9F71-5DC48338B287}"/>
              </a:ext>
            </a:extLst>
          </p:cNvPr>
          <p:cNvSpPr/>
          <p:nvPr/>
        </p:nvSpPr>
        <p:spPr>
          <a:xfrm>
            <a:off x="4572000" y="3840480"/>
            <a:ext cx="301752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B7D8D3-3743-C813-3266-CE6AC0266A0F}"/>
              </a:ext>
            </a:extLst>
          </p:cNvPr>
          <p:cNvSpPr txBox="1"/>
          <p:nvPr/>
        </p:nvSpPr>
        <p:spPr>
          <a:xfrm>
            <a:off x="4572000" y="3840480"/>
            <a:ext cx="301752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 b="1">
                <a:solidFill>
                  <a:srgbClr val="1B2A4A"/>
                </a:solidFill>
                <a:latin typeface="Calibri" panose="020F0502020204030204" pitchFamily="34" charset="0"/>
              </a:rPr>
              <a:t>Grafana :3000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A9F91A1-8563-E7FE-C6CD-94A3629389B8}"/>
              </a:ext>
            </a:extLst>
          </p:cNvPr>
          <p:cNvSpPr/>
          <p:nvPr/>
        </p:nvSpPr>
        <p:spPr>
          <a:xfrm>
            <a:off x="8229600" y="3840480"/>
            <a:ext cx="301752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0ACB84-FB05-B624-EEC7-8573461A5764}"/>
              </a:ext>
            </a:extLst>
          </p:cNvPr>
          <p:cNvSpPr txBox="1"/>
          <p:nvPr/>
        </p:nvSpPr>
        <p:spPr>
          <a:xfrm>
            <a:off x="8229600" y="3840480"/>
            <a:ext cx="301752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 b="1">
                <a:solidFill>
                  <a:srgbClr val="1B2A4A"/>
                </a:solidFill>
                <a:latin typeface="Calibri" panose="020F0502020204030204" pitchFamily="34" charset="0"/>
              </a:rPr>
              <a:t>Loki :3100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ED2B83-9DE8-8487-3D2A-CE323A25A179}"/>
              </a:ext>
            </a:extLst>
          </p:cNvPr>
          <p:cNvSpPr/>
          <p:nvPr/>
        </p:nvSpPr>
        <p:spPr>
          <a:xfrm>
            <a:off x="274320" y="4800600"/>
            <a:ext cx="11612880" cy="1005840"/>
          </a:xfrm>
          <a:prstGeom prst="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A87789-6E5B-A146-5825-3AA23840DBAE}"/>
              </a:ext>
            </a:extLst>
          </p:cNvPr>
          <p:cNvSpPr txBox="1"/>
          <p:nvPr/>
        </p:nvSpPr>
        <p:spPr>
          <a:xfrm>
            <a:off x="365760" y="4846320"/>
            <a:ext cx="11430000" cy="2743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Calibri" panose="020F0502020204030204" pitchFamily="34" charset="0"/>
              </a:rPr>
              <a:t>AWS MANAGED SERVICES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1897EC9-BDDC-A3BE-427E-05641A04646F}"/>
              </a:ext>
            </a:extLst>
          </p:cNvPr>
          <p:cNvSpPr/>
          <p:nvPr/>
        </p:nvSpPr>
        <p:spPr>
          <a:xfrm>
            <a:off x="457200" y="5166360"/>
            <a:ext cx="2560320" cy="457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FD8ACA-2193-2CF7-4789-9492AAB15F20}"/>
              </a:ext>
            </a:extLst>
          </p:cNvPr>
          <p:cNvSpPr txBox="1"/>
          <p:nvPr/>
        </p:nvSpPr>
        <p:spPr>
          <a:xfrm>
            <a:off x="457200" y="5166360"/>
            <a:ext cx="256032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CloudWatch Logs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8BA552-E45F-6C91-5748-0E8EF50EE552}"/>
              </a:ext>
            </a:extLst>
          </p:cNvPr>
          <p:cNvSpPr/>
          <p:nvPr/>
        </p:nvSpPr>
        <p:spPr>
          <a:xfrm>
            <a:off x="3200400" y="5166360"/>
            <a:ext cx="2560320" cy="457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C6EAC3-2E7E-236F-D6ED-455D72DAA6DF}"/>
              </a:ext>
            </a:extLst>
          </p:cNvPr>
          <p:cNvSpPr txBox="1"/>
          <p:nvPr/>
        </p:nvSpPr>
        <p:spPr>
          <a:xfrm>
            <a:off x="3200400" y="5166360"/>
            <a:ext cx="256032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Secrets Manager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1AB674A-6D4A-885F-483E-F560CD9A113C}"/>
              </a:ext>
            </a:extLst>
          </p:cNvPr>
          <p:cNvSpPr/>
          <p:nvPr/>
        </p:nvSpPr>
        <p:spPr>
          <a:xfrm>
            <a:off x="5943600" y="5166360"/>
            <a:ext cx="2560320" cy="457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9F4504-C9C2-57B8-95F7-B5306DD9FD3B}"/>
              </a:ext>
            </a:extLst>
          </p:cNvPr>
          <p:cNvSpPr txBox="1"/>
          <p:nvPr/>
        </p:nvSpPr>
        <p:spPr>
          <a:xfrm>
            <a:off x="5943600" y="5166360"/>
            <a:ext cx="256032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Cloud Map DNS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0C71112-00A7-442D-4323-F8211D6C0166}"/>
              </a:ext>
            </a:extLst>
          </p:cNvPr>
          <p:cNvSpPr/>
          <p:nvPr/>
        </p:nvSpPr>
        <p:spPr>
          <a:xfrm>
            <a:off x="8686800" y="5166360"/>
            <a:ext cx="3017520" cy="457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2087BC-E7F7-48BF-825D-2E6214A1C487}"/>
              </a:ext>
            </a:extLst>
          </p:cNvPr>
          <p:cNvSpPr txBox="1"/>
          <p:nvPr/>
        </p:nvSpPr>
        <p:spPr>
          <a:xfrm>
            <a:off x="8686800" y="5166360"/>
            <a:ext cx="301752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ECS Fargate</a:t>
            </a:r>
          </a:p>
        </p:txBody>
      </p:sp>
    </p:spTree>
    <p:extLst>
      <p:ext uri="{BB962C8B-B14F-4D97-AF65-F5344CB8AC3E}">
        <p14:creationId xmlns:p14="http://schemas.microsoft.com/office/powerpoint/2010/main" val="23546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3A5108-FA98-8B72-28E5-6EF3DBF94E3D}"/>
              </a:ext>
            </a:extLst>
          </p:cNvPr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400" b="1">
                <a:solidFill>
                  <a:srgbClr val="1B2A4A"/>
                </a:solidFill>
                <a:latin typeface="Calibri" panose="020F0502020204030204" pitchFamily="34" charset="0"/>
              </a:rPr>
              <a:t>Service Portfolio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FF3D97-A0F9-E43D-1944-2BCD82FFC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262344"/>
              </p:ext>
            </p:extLst>
          </p:nvPr>
        </p:nvGraphicFramePr>
        <p:xfrm>
          <a:off x="274319" y="9144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8260871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78941141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5049456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56904938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09312237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0470611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Technology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Port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Docker Image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Health Endpoint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CPU/Mem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14458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ecommerce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Spring Boot 3/Java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8090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sudhavuppalapati/ecommerce:latest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/ecommerce-service/actuator/health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512m/1GB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93084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Spring Boot 3/Java 21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8090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sudhavuppalapati/product:latest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/product-service/actuator/health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512m/1GB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9328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Spring Boot 3/Java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8090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sudhavuppalapati/images:latest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/image-service/actuator/health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512m/1GB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29160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observability-server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Spring Boot 3/Java 21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8091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sudhavuppalapati/observability-server:latest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/actuator/health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512m/1GB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6553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observability-debug-agent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Python 3.12/FastAPI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8092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sudhavuppalapati/observability-debug-agent:latest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/health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1024m/2GB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22908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79B9DAE-A080-06DE-C15C-828730B9AA3D}"/>
              </a:ext>
            </a:extLst>
          </p:cNvPr>
          <p:cNvSpPr txBox="1"/>
          <p:nvPr/>
        </p:nvSpPr>
        <p:spPr>
          <a:xfrm>
            <a:off x="274320" y="5577840"/>
            <a:ext cx="1161288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000" i="1">
                <a:solidFill>
                  <a:srgbClr val="546E7A"/>
                </a:solidFill>
                <a:latin typeface="Calibri" panose="020F0502020204030204" pitchFamily="34" charset="0"/>
              </a:rPr>
              <a:t>* All Java services expose /actuator/prometheus for Prometheus scraping at 15s intervals</a:t>
            </a:r>
            <a:endParaRPr lang="en-IN" sz="1000" i="1">
              <a:solidFill>
                <a:srgbClr val="546E7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15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688A9-45EE-83A8-77C4-65E2D2A17943}"/>
              </a:ext>
            </a:extLst>
          </p:cNvPr>
          <p:cNvSpPr txBox="1"/>
          <p:nvPr/>
        </p:nvSpPr>
        <p:spPr>
          <a:xfrm>
            <a:off x="274320" y="182880"/>
            <a:ext cx="1161288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2800" b="1">
                <a:solidFill>
                  <a:srgbClr val="1B2A4A"/>
                </a:solidFill>
                <a:latin typeface="Calibri" panose="020F0502020204030204" pitchFamily="34" charset="0"/>
              </a:rPr>
              <a:t>Java Heap Memory Profiling - Production Baseline</a:t>
            </a:r>
            <a:endParaRPr lang="en-IN" sz="2800" b="1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5B8BE5-F825-27B0-AA55-4FD2CB3E0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14311"/>
              </p:ext>
            </p:extLst>
          </p:nvPr>
        </p:nvGraphicFramePr>
        <p:xfrm>
          <a:off x="274320" y="91440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04141397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102299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16761225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19573486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5854815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32235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873430410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Xms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Xmx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Avg Used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Peak Used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GC Freq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GC Pause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164819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ecommerce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128m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210MB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340MB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2.1/min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45ms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859867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128m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400m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195MB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310MB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1.8/min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38ms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681907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images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128m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400m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220MB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360MB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2.4/min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52ms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826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128m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180MB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290MB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1.5/min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31ms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68784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1639C3-6D5F-F9D8-FF96-2E39DC40B3DB}"/>
              </a:ext>
            </a:extLst>
          </p:cNvPr>
          <p:cNvSpPr txBox="1"/>
          <p:nvPr/>
        </p:nvSpPr>
        <p:spPr>
          <a:xfrm>
            <a:off x="6949440" y="868680"/>
            <a:ext cx="493776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Heap Used vs Xmx (%)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C89AA-6ED8-CEFA-6504-E07A7B5BF06C}"/>
              </a:ext>
            </a:extLst>
          </p:cNvPr>
          <p:cNvSpPr txBox="1"/>
          <p:nvPr/>
        </p:nvSpPr>
        <p:spPr>
          <a:xfrm>
            <a:off x="6949440" y="1371600"/>
            <a:ext cx="128016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1B2A4A"/>
                </a:solidFill>
                <a:latin typeface="Calibri" panose="020F0502020204030204" pitchFamily="34" charset="0"/>
              </a:rPr>
              <a:t>ecommerce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962295-E4B6-EE09-457A-2C837B985789}"/>
              </a:ext>
            </a:extLst>
          </p:cNvPr>
          <p:cNvSpPr/>
          <p:nvPr/>
        </p:nvSpPr>
        <p:spPr>
          <a:xfrm>
            <a:off x="8321040" y="1371600"/>
            <a:ext cx="2642616" cy="347472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C52770-BF9C-1F8A-2FEB-3713C1C58786}"/>
              </a:ext>
            </a:extLst>
          </p:cNvPr>
          <p:cNvSpPr/>
          <p:nvPr/>
        </p:nvSpPr>
        <p:spPr>
          <a:xfrm>
            <a:off x="10963656" y="1371600"/>
            <a:ext cx="466344" cy="347472"/>
          </a:xfrm>
          <a:prstGeom prst="rect">
            <a:avLst/>
          </a:prstGeom>
          <a:solidFill>
            <a:srgbClr val="D6EA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574A3-1876-4280-47C2-BEBF8F538DBD}"/>
              </a:ext>
            </a:extLst>
          </p:cNvPr>
          <p:cNvSpPr txBox="1"/>
          <p:nvPr/>
        </p:nvSpPr>
        <p:spPr>
          <a:xfrm>
            <a:off x="11475720" y="1371600"/>
            <a:ext cx="548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4A90D9"/>
                </a:solidFill>
                <a:latin typeface="Calibri" panose="020F0502020204030204" pitchFamily="34" charset="0"/>
              </a:rPr>
              <a:t>85%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CAB38-9309-4974-42B8-2794E6983FC4}"/>
              </a:ext>
            </a:extLst>
          </p:cNvPr>
          <p:cNvSpPr txBox="1"/>
          <p:nvPr/>
        </p:nvSpPr>
        <p:spPr>
          <a:xfrm>
            <a:off x="6949440" y="1892808"/>
            <a:ext cx="128016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1B2A4A"/>
                </a:solidFill>
                <a:latin typeface="Calibri" panose="020F0502020204030204" pitchFamily="34" charset="0"/>
              </a:rPr>
              <a:t>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3D67F-25B2-0545-7E25-9A9E60316A62}"/>
              </a:ext>
            </a:extLst>
          </p:cNvPr>
          <p:cNvSpPr/>
          <p:nvPr/>
        </p:nvSpPr>
        <p:spPr>
          <a:xfrm>
            <a:off x="8321040" y="1892808"/>
            <a:ext cx="2424989" cy="347472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56F7CD-65B1-DF2C-A8F7-974BA34CD2D5}"/>
              </a:ext>
            </a:extLst>
          </p:cNvPr>
          <p:cNvSpPr/>
          <p:nvPr/>
        </p:nvSpPr>
        <p:spPr>
          <a:xfrm>
            <a:off x="10746029" y="1892808"/>
            <a:ext cx="683971" cy="347472"/>
          </a:xfrm>
          <a:prstGeom prst="rect">
            <a:avLst/>
          </a:prstGeom>
          <a:solidFill>
            <a:srgbClr val="D6EA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D589F-F4F0-801D-1BF6-4CFFC9BA5EF1}"/>
              </a:ext>
            </a:extLst>
          </p:cNvPr>
          <p:cNvSpPr txBox="1"/>
          <p:nvPr/>
        </p:nvSpPr>
        <p:spPr>
          <a:xfrm>
            <a:off x="11475720" y="1892808"/>
            <a:ext cx="548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4A90D9"/>
                </a:solidFill>
                <a:latin typeface="Calibri" panose="020F0502020204030204" pitchFamily="34" charset="0"/>
              </a:rPr>
              <a:t>78%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A9C08-7100-85E6-976B-9171CF0659AA}"/>
              </a:ext>
            </a:extLst>
          </p:cNvPr>
          <p:cNvSpPr txBox="1"/>
          <p:nvPr/>
        </p:nvSpPr>
        <p:spPr>
          <a:xfrm>
            <a:off x="6949440" y="2414016"/>
            <a:ext cx="128016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1B2A4A"/>
                </a:solidFill>
                <a:latin typeface="Calibri" panose="020F0502020204030204" pitchFamily="34" charset="0"/>
              </a:rPr>
              <a:t>images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C5B3C2-B297-FB4F-065E-B436BF9257CB}"/>
              </a:ext>
            </a:extLst>
          </p:cNvPr>
          <p:cNvSpPr/>
          <p:nvPr/>
        </p:nvSpPr>
        <p:spPr>
          <a:xfrm>
            <a:off x="8321040" y="2414016"/>
            <a:ext cx="2798064" cy="347472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84860-001C-D5E0-D215-3A6A012E7359}"/>
              </a:ext>
            </a:extLst>
          </p:cNvPr>
          <p:cNvSpPr/>
          <p:nvPr/>
        </p:nvSpPr>
        <p:spPr>
          <a:xfrm>
            <a:off x="11119104" y="2414016"/>
            <a:ext cx="310896" cy="347472"/>
          </a:xfrm>
          <a:prstGeom prst="rect">
            <a:avLst/>
          </a:prstGeom>
          <a:solidFill>
            <a:srgbClr val="D6EA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F34D75-EE5F-C2C7-84E1-005F2ECFC724}"/>
              </a:ext>
            </a:extLst>
          </p:cNvPr>
          <p:cNvSpPr txBox="1"/>
          <p:nvPr/>
        </p:nvSpPr>
        <p:spPr>
          <a:xfrm>
            <a:off x="11475720" y="2414016"/>
            <a:ext cx="548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C0392B"/>
                </a:solidFill>
                <a:latin typeface="Calibri" panose="020F0502020204030204" pitchFamily="34" charset="0"/>
              </a:rPr>
              <a:t>90%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D86078-3982-C1EF-B87C-FC1C25A27D75}"/>
              </a:ext>
            </a:extLst>
          </p:cNvPr>
          <p:cNvSpPr txBox="1"/>
          <p:nvPr/>
        </p:nvSpPr>
        <p:spPr>
          <a:xfrm>
            <a:off x="6949440" y="2935224"/>
            <a:ext cx="128016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1B2A4A"/>
                </a:solidFill>
                <a:latin typeface="Calibri" panose="020F0502020204030204" pitchFamily="34" charset="0"/>
              </a:rPr>
              <a:t>obs-server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B3336C-5D7B-2A2D-C386-5C395354FB34}"/>
              </a:ext>
            </a:extLst>
          </p:cNvPr>
          <p:cNvSpPr/>
          <p:nvPr/>
        </p:nvSpPr>
        <p:spPr>
          <a:xfrm>
            <a:off x="8321040" y="2935224"/>
            <a:ext cx="2269541" cy="347472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F29530-358F-0F4B-B2C9-9BF447A8F7E7}"/>
              </a:ext>
            </a:extLst>
          </p:cNvPr>
          <p:cNvSpPr/>
          <p:nvPr/>
        </p:nvSpPr>
        <p:spPr>
          <a:xfrm>
            <a:off x="10590581" y="2935224"/>
            <a:ext cx="839419" cy="347472"/>
          </a:xfrm>
          <a:prstGeom prst="rect">
            <a:avLst/>
          </a:prstGeom>
          <a:solidFill>
            <a:srgbClr val="D6EA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91E916-A333-2505-1FCD-050E72B06D4F}"/>
              </a:ext>
            </a:extLst>
          </p:cNvPr>
          <p:cNvSpPr txBox="1"/>
          <p:nvPr/>
        </p:nvSpPr>
        <p:spPr>
          <a:xfrm>
            <a:off x="11475720" y="2935224"/>
            <a:ext cx="5486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27AE60"/>
                </a:solidFill>
                <a:latin typeface="Calibri" panose="020F0502020204030204" pitchFamily="34" charset="0"/>
              </a:rPr>
              <a:t>73%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1D26D6-ABA3-6453-A9B1-77E6AEFB6100}"/>
              </a:ext>
            </a:extLst>
          </p:cNvPr>
          <p:cNvSpPr/>
          <p:nvPr/>
        </p:nvSpPr>
        <p:spPr>
          <a:xfrm>
            <a:off x="274320" y="4206240"/>
            <a:ext cx="11612880" cy="1188720"/>
          </a:xfrm>
          <a:prstGeom prst="rect">
            <a:avLst/>
          </a:prstGeom>
          <a:solidFill>
            <a:srgbClr val="FDEC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758392-31BC-2EA9-625D-EFA7AB232517}"/>
              </a:ext>
            </a:extLst>
          </p:cNvPr>
          <p:cNvSpPr txBox="1"/>
          <p:nvPr/>
        </p:nvSpPr>
        <p:spPr>
          <a:xfrm>
            <a:off x="457200" y="4251960"/>
            <a:ext cx="11247120" cy="10972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C0392B"/>
                </a:solidFill>
                <a:latin typeface="Calibri" panose="020F0502020204030204" pitchFamily="34" charset="0"/>
              </a:rPr>
              <a:t>WARNING: images service heap at 90% of Xmx (400m). Risk of OutOfMemoryError under peak load.</a:t>
            </a:r>
          </a:p>
          <a:p>
            <a:r>
              <a:rPr lang="en-US" sz="1100">
                <a:solidFill>
                  <a:srgbClr val="C0392B"/>
                </a:solidFill>
                <a:latin typeface="Calibri" panose="020F0502020204030204" pitchFamily="34" charset="0"/>
              </a:rPr>
              <a:t>Recommendations: (1) Increase Xmx to 512m  (2) Set scale-out trigger at 80% heap utilization  (3) Enable G1GC: -XX:+UseG1GC for better large-heap management.</a:t>
            </a:r>
            <a:endParaRPr lang="en-IN" sz="1100">
              <a:solidFill>
                <a:srgbClr val="C0392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899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62FD9-593E-934B-37AF-A708C2DE726F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3000" b="1">
                <a:solidFill>
                  <a:srgbClr val="1B2A4A"/>
                </a:solidFill>
                <a:latin typeface="Calibri" panose="020F0502020204030204" pitchFamily="34" charset="0"/>
              </a:rPr>
              <a:t>CPU Utilization - ECS Fargate Tasks</a:t>
            </a:r>
            <a:endParaRPr lang="en-IN" sz="3000" b="1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669AF6-6B6F-C6E0-45D4-B7942DBD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855546"/>
              </p:ext>
            </p:extLst>
          </p:nvPr>
        </p:nvGraphicFramePr>
        <p:xfrm>
          <a:off x="274319" y="91440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79943576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1792005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2554190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8614808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72138426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6355703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3481928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Avg CPU%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Peak CPU%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P50 CPU%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P95 CPU%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P99 CPU%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Scale Trigger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52638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ecommerce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3837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65%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64%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939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images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88%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2914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81378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obs-debug-agent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408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FB2F0BC-B4E1-070A-F8B5-E080541BE1A6}"/>
              </a:ext>
            </a:extLst>
          </p:cNvPr>
          <p:cNvSpPr/>
          <p:nvPr/>
        </p:nvSpPr>
        <p:spPr>
          <a:xfrm>
            <a:off x="274320" y="4937760"/>
            <a:ext cx="11612880" cy="1005840"/>
          </a:xfrm>
          <a:prstGeom prst="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14B38-EFC7-2C0F-EEE3-B8C9B9BAB311}"/>
              </a:ext>
            </a:extLst>
          </p:cNvPr>
          <p:cNvSpPr txBox="1"/>
          <p:nvPr/>
        </p:nvSpPr>
        <p:spPr>
          <a:xfrm>
            <a:off x="457200" y="4983480"/>
            <a:ext cx="11247120" cy="9144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</a:rPr>
              <a:t>KEY INSIGHT: images-service CPU P99 at 88% - exceeds 70% scale trigger. Auto-scaling fired 14 times in 30 days. Action: Move image processing to async SQS workers to reduce CPU pressure.</a:t>
            </a:r>
            <a:endParaRPr lang="en-IN" sz="1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88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45950-3C0D-BC19-2269-4320FABAF2F1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2800" b="1">
                <a:solidFill>
                  <a:srgbClr val="1B2A4A"/>
                </a:solidFill>
                <a:latin typeface="Calibri" panose="020F0502020204030204" pitchFamily="34" charset="0"/>
              </a:rPr>
              <a:t>API Latency Analysis - Percentile Distribution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381C96-7E03-4016-346F-8734A193C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490360"/>
              </p:ext>
            </p:extLst>
          </p:nvPr>
        </p:nvGraphicFramePr>
        <p:xfrm>
          <a:off x="182879" y="914400"/>
          <a:ext cx="117957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418822669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62098052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344256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499529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9138581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630229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532007497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4107666350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Endpoint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Method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P50ms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P75ms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P95ms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P99ms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P99.9ms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SLA 500ms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80329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/ecommerce-service/orders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27AE60"/>
                          </a:solidFill>
                          <a:latin typeface="Calibri" panose="020F0502020204030204" pitchFamily="34" charset="0"/>
                        </a:rPr>
                        <a:t>PASS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77508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/ecommerce-service/orders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GET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27AE60"/>
                          </a:solidFill>
                          <a:latin typeface="Calibri" panose="020F0502020204030204" pitchFamily="34" charset="0"/>
                        </a:rPr>
                        <a:t>PASS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96789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/product-service/products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27AE60"/>
                          </a:solidFill>
                          <a:latin typeface="Calibri" panose="020F0502020204030204" pitchFamily="34" charset="0"/>
                        </a:rPr>
                        <a:t>PASS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33886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/image-service/upload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POST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410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580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720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890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BREACH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967597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/image-service/resize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POST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480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640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950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BREACH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64143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</a:rPr>
                        <a:t>/observability/analyze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</a:rPr>
                        <a:t>POST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</a:rPr>
                        <a:t>850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</a:rPr>
                        <a:t>2100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</a:rPr>
                        <a:t>4800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E67E22"/>
                          </a:solidFill>
                          <a:latin typeface="Calibri" panose="020F0502020204030204" pitchFamily="34" charset="0"/>
                        </a:rPr>
                        <a:t>N/A LLM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90570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522FA2D-B5F8-DF5C-D586-50BE9B272CE8}"/>
              </a:ext>
            </a:extLst>
          </p:cNvPr>
          <p:cNvSpPr/>
          <p:nvPr/>
        </p:nvSpPr>
        <p:spPr>
          <a:xfrm>
            <a:off x="274320" y="4754880"/>
            <a:ext cx="11612880" cy="1188720"/>
          </a:xfrm>
          <a:prstGeom prst="rect">
            <a:avLst/>
          </a:prstGeom>
          <a:solidFill>
            <a:srgbClr val="F4F6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F7966-7CB5-DA5F-0825-6E9EB60873BD}"/>
              </a:ext>
            </a:extLst>
          </p:cNvPr>
          <p:cNvSpPr txBox="1"/>
          <p:nvPr/>
        </p:nvSpPr>
        <p:spPr>
          <a:xfrm>
            <a:off x="457200" y="4800600"/>
            <a:ext cx="11247120" cy="10972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SLA Breaches: image-service upload (P95: 580ms) and resize (P95: 640ms) exceed 500ms SLA.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Root cause: synchronous image processing on request thread.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Resolution: Implement async processing pipeline with SQS + Lambda for image operations.</a:t>
            </a:r>
          </a:p>
        </p:txBody>
      </p:sp>
    </p:spTree>
    <p:extLst>
      <p:ext uri="{BB962C8B-B14F-4D97-AF65-F5344CB8AC3E}">
        <p14:creationId xmlns:p14="http://schemas.microsoft.com/office/powerpoint/2010/main" val="71121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76BAEE-F134-F942-3D85-78F58C7CB79A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000" b="1">
                <a:solidFill>
                  <a:srgbClr val="1B2A4A"/>
                </a:solidFill>
                <a:latin typeface="Calibri" panose="020F0502020204030204" pitchFamily="34" charset="0"/>
              </a:rPr>
              <a:t>Throughput and Service Reliability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D4FF12-4900-F509-5B90-67F0A32D4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28204"/>
              </p:ext>
            </p:extLst>
          </p:nvPr>
        </p:nvGraphicFramePr>
        <p:xfrm>
          <a:off x="274320" y="91440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92967448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10181886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260637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5068932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88198504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Avg RPS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Peak RPS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Max RPS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Error Rate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34711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ecommerce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0.08%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76752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520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580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0.04%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4522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0.31%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8735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obs-server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0.01%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00146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obs-debug-agent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63303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15CF25E-9D8B-4BBB-4B5B-0CF77F724D96}"/>
              </a:ext>
            </a:extLst>
          </p:cNvPr>
          <p:cNvSpPr/>
          <p:nvPr/>
        </p:nvSpPr>
        <p:spPr>
          <a:xfrm>
            <a:off x="6400800" y="914400"/>
            <a:ext cx="5394960" cy="2286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DA0FF-760C-3195-2265-5FA79FA70367}"/>
              </a:ext>
            </a:extLst>
          </p:cNvPr>
          <p:cNvSpPr txBox="1"/>
          <p:nvPr/>
        </p:nvSpPr>
        <p:spPr>
          <a:xfrm>
            <a:off x="6400800" y="1005840"/>
            <a:ext cx="5394960" cy="13716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5200" b="1">
                <a:solidFill>
                  <a:srgbClr val="FFFFFF"/>
                </a:solidFill>
                <a:latin typeface="Calibri" panose="020F0502020204030204" pitchFamily="34" charset="0"/>
              </a:rPr>
              <a:t>99.85%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0D996-8307-666A-2634-428334996E80}"/>
              </a:ext>
            </a:extLst>
          </p:cNvPr>
          <p:cNvSpPr txBox="1"/>
          <p:nvPr/>
        </p:nvSpPr>
        <p:spPr>
          <a:xfrm>
            <a:off x="6400800" y="2423160"/>
            <a:ext cx="5394960" cy="365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500">
                <a:solidFill>
                  <a:srgbClr val="FFFFFF"/>
                </a:solidFill>
                <a:latin typeface="Calibri" panose="020F0502020204030204" pitchFamily="34" charset="0"/>
              </a:rPr>
              <a:t>Overall Availability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BA3B2A-4722-F97F-BBC8-336DCF6405A3}"/>
              </a:ext>
            </a:extLst>
          </p:cNvPr>
          <p:cNvSpPr/>
          <p:nvPr/>
        </p:nvSpPr>
        <p:spPr>
          <a:xfrm>
            <a:off x="6400800" y="3337560"/>
            <a:ext cx="2468880" cy="12801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3C7302-DE16-A332-F97B-88058751045E}"/>
              </a:ext>
            </a:extLst>
          </p:cNvPr>
          <p:cNvSpPr txBox="1"/>
          <p:nvPr/>
        </p:nvSpPr>
        <p:spPr>
          <a:xfrm>
            <a:off x="6400800" y="3429000"/>
            <a:ext cx="2468880" cy="7315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000" b="1">
                <a:solidFill>
                  <a:srgbClr val="F47B20"/>
                </a:solidFill>
                <a:latin typeface="Calibri" panose="020F0502020204030204" pitchFamily="34" charset="0"/>
              </a:rPr>
              <a:t>492 RPS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546956-B130-6AB1-E121-1406827FC3D0}"/>
              </a:ext>
            </a:extLst>
          </p:cNvPr>
          <p:cNvSpPr txBox="1"/>
          <p:nvPr/>
        </p:nvSpPr>
        <p:spPr>
          <a:xfrm>
            <a:off x="6400800" y="4206240"/>
            <a:ext cx="246888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Peak Throughput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20435-B206-B434-092F-ED50C0514610}"/>
              </a:ext>
            </a:extLst>
          </p:cNvPr>
          <p:cNvSpPr/>
          <p:nvPr/>
        </p:nvSpPr>
        <p:spPr>
          <a:xfrm>
            <a:off x="9326880" y="3337560"/>
            <a:ext cx="2468881" cy="12801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84423-A0FF-AA10-8CE1-236CBF52ED88}"/>
              </a:ext>
            </a:extLst>
          </p:cNvPr>
          <p:cNvSpPr txBox="1"/>
          <p:nvPr/>
        </p:nvSpPr>
        <p:spPr>
          <a:xfrm>
            <a:off x="9326880" y="3429000"/>
            <a:ext cx="2468880" cy="7315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000" b="1">
                <a:solidFill>
                  <a:srgbClr val="C0392B"/>
                </a:solidFill>
                <a:latin typeface="Calibri" panose="020F0502020204030204" pitchFamily="34" charset="0"/>
              </a:rPr>
              <a:t>0.12%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55416C-A1B0-3D57-B8DE-E4FA138CD6D2}"/>
              </a:ext>
            </a:extLst>
          </p:cNvPr>
          <p:cNvSpPr txBox="1"/>
          <p:nvPr/>
        </p:nvSpPr>
        <p:spPr>
          <a:xfrm>
            <a:off x="9326880" y="4206240"/>
            <a:ext cx="246888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Overall Error Rate</a:t>
            </a:r>
          </a:p>
        </p:txBody>
      </p:sp>
    </p:spTree>
    <p:extLst>
      <p:ext uri="{BB962C8B-B14F-4D97-AF65-F5344CB8AC3E}">
        <p14:creationId xmlns:p14="http://schemas.microsoft.com/office/powerpoint/2010/main" val="195051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96C1B9-94E9-D96F-5422-C2F809B68450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000" b="1">
                <a:solidFill>
                  <a:srgbClr val="1B2A4A"/>
                </a:solidFill>
                <a:latin typeface="Calibri" panose="020F0502020204030204" pitchFamily="34" charset="0"/>
              </a:rPr>
              <a:t>Auto-Scaling Configuration and Events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992FF-B4C0-7EF1-21CF-45F592521468}"/>
              </a:ext>
            </a:extLst>
          </p:cNvPr>
          <p:cNvSpPr txBox="1"/>
          <p:nvPr/>
        </p:nvSpPr>
        <p:spPr>
          <a:xfrm>
            <a:off x="274320" y="822960"/>
            <a:ext cx="685800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Scaling Policies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FDF903-5EC7-603F-BD7F-EC5954709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73849"/>
              </p:ext>
            </p:extLst>
          </p:nvPr>
        </p:nvGraphicFramePr>
        <p:xfrm>
          <a:off x="274320" y="118872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75139314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58830923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17927119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7316264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5996745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Max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CPU Trigger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Scale-Out Step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24943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ecommerce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+2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19384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+2 tasks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64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solidFill>
                            <a:srgbClr val="B8860B"/>
                          </a:solidFill>
                          <a:latin typeface="Calibri" panose="020F0502020204030204" pitchFamily="34" charset="0"/>
                        </a:rPr>
                        <a:t>images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B8860B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B8860B"/>
                          </a:solidFill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B8860B"/>
                          </a:solidFill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B8860B"/>
                          </a:solidFill>
                          <a:latin typeface="Calibri" panose="020F0502020204030204" pitchFamily="34" charset="0"/>
                        </a:rPr>
                        <a:t>+3 tasks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30983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+1 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45960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obs-debug-agent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+1 task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237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0591A4-045E-9CC5-D452-4A3C6E0B3B6A}"/>
              </a:ext>
            </a:extLst>
          </p:cNvPr>
          <p:cNvSpPr txBox="1"/>
          <p:nvPr/>
        </p:nvSpPr>
        <p:spPr>
          <a:xfrm>
            <a:off x="7315200" y="822960"/>
            <a:ext cx="466344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Scaling Events (30 days)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707B18-85DF-3C8B-37AC-CEAF124D6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715970"/>
              </p:ext>
            </p:extLst>
          </p:nvPr>
        </p:nvGraphicFramePr>
        <p:xfrm>
          <a:off x="7315200" y="1188720"/>
          <a:ext cx="4663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157157083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428676909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4209145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Service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Events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Peak Tasks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040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ecommerce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03746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21259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images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C0392B"/>
                          </a:solidFill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9381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44378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obs-debug-agent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2699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E364541-D6FC-B2D8-1799-496EBB26A0E4}"/>
              </a:ext>
            </a:extLst>
          </p:cNvPr>
          <p:cNvSpPr/>
          <p:nvPr/>
        </p:nvSpPr>
        <p:spPr>
          <a:xfrm>
            <a:off x="274320" y="4572000"/>
            <a:ext cx="11612880" cy="914400"/>
          </a:xfrm>
          <a:prstGeom prst="rect">
            <a:avLst/>
          </a:prstGeom>
          <a:solidFill>
            <a:srgbClr val="EBF5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6516B5-0656-26D7-ACDB-0D08171FB631}"/>
              </a:ext>
            </a:extLst>
          </p:cNvPr>
          <p:cNvSpPr txBox="1"/>
          <p:nvPr/>
        </p:nvSpPr>
        <p:spPr>
          <a:xfrm>
            <a:off x="457200" y="4617720"/>
            <a:ext cx="11247120" cy="8229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JVM: -Xms128m -Xmx400m -XX:+UseG1GC -XX:MaxGCPauseMillis=200 -XX:+HeapDumpOnOutOfMemoryError | Scale-in cooldown: 300s | Scale-out cooldown: 60s | Eval period: 1 min</a:t>
            </a:r>
          </a:p>
        </p:txBody>
      </p:sp>
    </p:spTree>
    <p:extLst>
      <p:ext uri="{BB962C8B-B14F-4D97-AF65-F5344CB8AC3E}">
        <p14:creationId xmlns:p14="http://schemas.microsoft.com/office/powerpoint/2010/main" val="385629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AEB580-6EB1-A53E-8E91-F1B124AE5A7B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000" b="1">
                <a:solidFill>
                  <a:srgbClr val="1B2A4A"/>
                </a:solidFill>
                <a:latin typeface="Calibri" panose="020F0502020204030204" pitchFamily="34" charset="0"/>
              </a:rPr>
              <a:t>Observability Stack - Full-Stack Visibility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92B08-1CD7-EC86-1D41-5C4AB75DD797}"/>
              </a:ext>
            </a:extLst>
          </p:cNvPr>
          <p:cNvSpPr/>
          <p:nvPr/>
        </p:nvSpPr>
        <p:spPr>
          <a:xfrm>
            <a:off x="274320" y="914400"/>
            <a:ext cx="3657600" cy="640080"/>
          </a:xfrm>
          <a:prstGeom prst="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56A45-48F9-16F9-41E0-56694DABEC5D}"/>
              </a:ext>
            </a:extLst>
          </p:cNvPr>
          <p:cNvSpPr txBox="1"/>
          <p:nvPr/>
        </p:nvSpPr>
        <p:spPr>
          <a:xfrm>
            <a:off x="274320" y="914400"/>
            <a:ext cx="365760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PROMETHEUS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8198C0-E53E-61E6-656A-5E3671462B2D}"/>
              </a:ext>
            </a:extLst>
          </p:cNvPr>
          <p:cNvSpPr/>
          <p:nvPr/>
        </p:nvSpPr>
        <p:spPr>
          <a:xfrm>
            <a:off x="274320" y="1554480"/>
            <a:ext cx="3657600" cy="411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299C9-99E6-8584-608C-CC63BC30FB0F}"/>
              </a:ext>
            </a:extLst>
          </p:cNvPr>
          <p:cNvSpPr txBox="1"/>
          <p:nvPr/>
        </p:nvSpPr>
        <p:spPr>
          <a:xfrm>
            <a:off x="411480" y="1645920"/>
            <a:ext cx="3383280" cy="3749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Scrape interval: 15s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Retention: 15 days</a:t>
            </a:r>
          </a:p>
          <a:p>
            <a:endParaRPr lang="en-US" sz="11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Metrics collected: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JVM heap and GC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HTTP req rate/latency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CPU and memory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Custom business KPIs</a:t>
            </a:r>
          </a:p>
          <a:p>
            <a:endParaRPr lang="en-US" sz="11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Targets: 4 services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Endpoint: /actuator/prometheus</a:t>
            </a:r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CAC3D-C5C8-E7DE-D101-87AF91166980}"/>
              </a:ext>
            </a:extLst>
          </p:cNvPr>
          <p:cNvSpPr txBox="1"/>
          <p:nvPr/>
        </p:nvSpPr>
        <p:spPr>
          <a:xfrm>
            <a:off x="274320" y="5715000"/>
            <a:ext cx="365760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200" b="1">
                <a:solidFill>
                  <a:srgbClr val="E67E22"/>
                </a:solidFill>
                <a:latin typeface="Calibri" panose="020F0502020204030204" pitchFamily="34" charset="0"/>
              </a:rPr>
              <a:t>9090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F7D0A3-4F49-2E27-8B8D-4C66E6650D3F}"/>
              </a:ext>
            </a:extLst>
          </p:cNvPr>
          <p:cNvSpPr/>
          <p:nvPr/>
        </p:nvSpPr>
        <p:spPr>
          <a:xfrm>
            <a:off x="4114800" y="914400"/>
            <a:ext cx="3657600" cy="64008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A0CF1-FC88-59AE-A326-2EA6EEC209F1}"/>
              </a:ext>
            </a:extLst>
          </p:cNvPr>
          <p:cNvSpPr txBox="1"/>
          <p:nvPr/>
        </p:nvSpPr>
        <p:spPr>
          <a:xfrm>
            <a:off x="4114800" y="914400"/>
            <a:ext cx="365760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GRAFANA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620624-EEF4-741E-60A1-3BE8DC84A7E9}"/>
              </a:ext>
            </a:extLst>
          </p:cNvPr>
          <p:cNvSpPr/>
          <p:nvPr/>
        </p:nvSpPr>
        <p:spPr>
          <a:xfrm>
            <a:off x="4114800" y="1554480"/>
            <a:ext cx="3657600" cy="411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B131BE-D62D-149B-19C3-1E248D4DC4B2}"/>
              </a:ext>
            </a:extLst>
          </p:cNvPr>
          <p:cNvSpPr txBox="1"/>
          <p:nvPr/>
        </p:nvSpPr>
        <p:spPr>
          <a:xfrm>
            <a:off x="4251960" y="1645920"/>
            <a:ext cx="3383280" cy="3749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Dashboards: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JVM Overview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Service Health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SLA Compliance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Auto-Scale Events</a:t>
            </a:r>
          </a:p>
          <a:p>
            <a:endParaRPr lang="en-US" sz="11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Alerts configured: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Heap &gt; 85% = warn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Heap &gt; 90% = critical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P99 &gt; 450ms = warn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Error rate &gt; 0.5%</a:t>
            </a:r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D9490-59F3-474B-BE51-D13EB45DA385}"/>
              </a:ext>
            </a:extLst>
          </p:cNvPr>
          <p:cNvSpPr txBox="1"/>
          <p:nvPr/>
        </p:nvSpPr>
        <p:spPr>
          <a:xfrm>
            <a:off x="4114800" y="5715000"/>
            <a:ext cx="365760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200" b="1">
                <a:solidFill>
                  <a:srgbClr val="F47B20"/>
                </a:solidFill>
                <a:latin typeface="Calibri" panose="020F0502020204030204" pitchFamily="34" charset="0"/>
              </a:rPr>
              <a:t>3000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011A17-3BFF-E6C0-5F0B-3B0D21F99F11}"/>
              </a:ext>
            </a:extLst>
          </p:cNvPr>
          <p:cNvSpPr/>
          <p:nvPr/>
        </p:nvSpPr>
        <p:spPr>
          <a:xfrm>
            <a:off x="7955280" y="914400"/>
            <a:ext cx="3657600" cy="64008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CD194D-ACDA-8B80-6797-B4F213D60B79}"/>
              </a:ext>
            </a:extLst>
          </p:cNvPr>
          <p:cNvSpPr txBox="1"/>
          <p:nvPr/>
        </p:nvSpPr>
        <p:spPr>
          <a:xfrm>
            <a:off x="7955280" y="914400"/>
            <a:ext cx="3657600" cy="64008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LOKI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060D5F-B61E-165C-9EA8-D1D77CFFB5B5}"/>
              </a:ext>
            </a:extLst>
          </p:cNvPr>
          <p:cNvSpPr/>
          <p:nvPr/>
        </p:nvSpPr>
        <p:spPr>
          <a:xfrm>
            <a:off x="7955280" y="1554480"/>
            <a:ext cx="3657600" cy="4114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8E3840-0A17-2E3A-9725-1ED19243CF57}"/>
              </a:ext>
            </a:extLst>
          </p:cNvPr>
          <p:cNvSpPr txBox="1"/>
          <p:nvPr/>
        </p:nvSpPr>
        <p:spPr>
          <a:xfrm>
            <a:off x="8092440" y="1645920"/>
            <a:ext cx="3383280" cy="3749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Log aggregation for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all 8 ECS services</a:t>
            </a:r>
          </a:p>
          <a:p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Query examples: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  {service='ecommerce'}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  |= 'ERROR'</a:t>
            </a:r>
          </a:p>
          <a:p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  {service='images'}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  | json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  | duration &gt; 500ms</a:t>
            </a:r>
          </a:p>
          <a:p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Retention: 7 days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CloudWatch: 7 days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8C5EB-B810-9C8E-DC87-707EA69087D5}"/>
              </a:ext>
            </a:extLst>
          </p:cNvPr>
          <p:cNvSpPr txBox="1"/>
          <p:nvPr/>
        </p:nvSpPr>
        <p:spPr>
          <a:xfrm>
            <a:off x="7955280" y="5715000"/>
            <a:ext cx="365760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200" b="1">
                <a:solidFill>
                  <a:srgbClr val="4A90D9"/>
                </a:solidFill>
                <a:latin typeface="Calibri" panose="020F0502020204030204" pitchFamily="34" charset="0"/>
              </a:rPr>
              <a:t>3100</a:t>
            </a:r>
          </a:p>
        </p:txBody>
      </p:sp>
    </p:spTree>
    <p:extLst>
      <p:ext uri="{BB962C8B-B14F-4D97-AF65-F5344CB8AC3E}">
        <p14:creationId xmlns:p14="http://schemas.microsoft.com/office/powerpoint/2010/main" val="2583517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D2CA6B-7E1F-AF35-786F-2FFCAA00348B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000" b="1">
                <a:solidFill>
                  <a:srgbClr val="FFFFFF"/>
                </a:solidFill>
                <a:latin typeface="Calibri" panose="020F0502020204030204" pitchFamily="34" charset="0"/>
              </a:rPr>
              <a:t>AI-Powered Observability Debug Agent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078570-002C-6D94-4AE1-DE630FACC6C0}"/>
              </a:ext>
            </a:extLst>
          </p:cNvPr>
          <p:cNvSpPr/>
          <p:nvPr/>
        </p:nvSpPr>
        <p:spPr>
          <a:xfrm>
            <a:off x="274320" y="914400"/>
            <a:ext cx="5486400" cy="5303520"/>
          </a:xfrm>
          <a:prstGeom prst="rect">
            <a:avLst/>
          </a:prstGeom>
          <a:solidFill>
            <a:srgbClr val="243B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80F53-7C9E-132E-DDDD-B75E4BA094DF}"/>
              </a:ext>
            </a:extLst>
          </p:cNvPr>
          <p:cNvSpPr txBox="1"/>
          <p:nvPr/>
        </p:nvSpPr>
        <p:spPr>
          <a:xfrm>
            <a:off x="457200" y="1097280"/>
            <a:ext cx="5120640" cy="49377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300">
                <a:solidFill>
                  <a:srgbClr val="FFFFFF"/>
                </a:solidFill>
                <a:latin typeface="Calibri" panose="020F0502020204030204" pitchFamily="34" charset="0"/>
              </a:rPr>
              <a:t>&gt;&gt; LangGraph orchestration</a:t>
            </a:r>
          </a:p>
          <a:p>
            <a:endParaRPr lang="en-IN" sz="13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1300">
                <a:solidFill>
                  <a:srgbClr val="FFFFFF"/>
                </a:solidFill>
                <a:latin typeface="Calibri" panose="020F0502020204030204" pitchFamily="34" charset="0"/>
              </a:rPr>
              <a:t>&gt;&gt; LangChain + OpenAI GPT-4</a:t>
            </a:r>
          </a:p>
          <a:p>
            <a:endParaRPr lang="en-IN" sz="13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1300">
                <a:solidFill>
                  <a:srgbClr val="FFFFFF"/>
                </a:solidFill>
                <a:latin typeface="Calibri" panose="020F0502020204030204" pitchFamily="34" charset="0"/>
              </a:rPr>
              <a:t>&gt;&gt; Real-time metric ingestion</a:t>
            </a:r>
          </a:p>
          <a:p>
            <a:endParaRPr lang="en-IN" sz="13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1300">
                <a:solidFill>
                  <a:srgbClr val="FFFFFF"/>
                </a:solidFill>
                <a:latin typeface="Calibri" panose="020F0502020204030204" pitchFamily="34" charset="0"/>
              </a:rPr>
              <a:t>&gt;&gt; Root cause analysis (RCA)</a:t>
            </a:r>
          </a:p>
          <a:p>
            <a:endParaRPr lang="en-IN" sz="13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1300">
                <a:solidFill>
                  <a:srgbClr val="FFFFFF"/>
                </a:solidFill>
                <a:latin typeface="Calibri" panose="020F0502020204030204" pitchFamily="34" charset="0"/>
              </a:rPr>
              <a:t>&gt;&gt; Natural language queries</a:t>
            </a:r>
          </a:p>
          <a:p>
            <a:endParaRPr lang="en-IN" sz="13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1300">
                <a:solidFill>
                  <a:srgbClr val="FFFFFF"/>
                </a:solidFill>
                <a:latin typeface="Calibri" panose="020F0502020204030204" pitchFamily="34" charset="0"/>
              </a:rPr>
              <a:t>&gt;&gt; Auto-remediation plans</a:t>
            </a:r>
          </a:p>
          <a:p>
            <a:endParaRPr lang="en-IN" sz="13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1300">
                <a:solidFill>
                  <a:srgbClr val="FFFFFF"/>
                </a:solidFill>
                <a:latin typeface="Calibri" panose="020F0502020204030204" pitchFamily="34" charset="0"/>
              </a:rPr>
              <a:t>&gt;&gt; Slack alert integration</a:t>
            </a:r>
          </a:p>
          <a:p>
            <a:endParaRPr lang="en-IN" sz="13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1300">
                <a:solidFill>
                  <a:srgbClr val="FFFFFF"/>
                </a:solidFill>
                <a:latin typeface="Calibri" panose="020F0502020204030204" pitchFamily="34" charset="0"/>
              </a:rPr>
              <a:t>&gt;&gt; Avg analysis time: 2.3s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85F6BF-6FBE-9C87-D629-53E69ADCD5EC}"/>
              </a:ext>
            </a:extLst>
          </p:cNvPr>
          <p:cNvSpPr/>
          <p:nvPr/>
        </p:nvSpPr>
        <p:spPr>
          <a:xfrm>
            <a:off x="6035040" y="914400"/>
            <a:ext cx="5852160" cy="530352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992B3-31B9-2ED0-17E2-D58078AA7EA4}"/>
              </a:ext>
            </a:extLst>
          </p:cNvPr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 b="1">
                <a:solidFill>
                  <a:srgbClr val="4A90D9"/>
                </a:solidFill>
                <a:latin typeface="Calibri" panose="020F0502020204030204" pitchFamily="34" charset="0"/>
              </a:rPr>
              <a:t>API Interaction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773B94-3779-103F-4326-DE36D6754AB9}"/>
              </a:ext>
            </a:extLst>
          </p:cNvPr>
          <p:cNvSpPr txBox="1"/>
          <p:nvPr/>
        </p:nvSpPr>
        <p:spPr>
          <a:xfrm>
            <a:off x="6172200" y="1417320"/>
            <a:ext cx="5577840" cy="46634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POST /observability/analyze</a:t>
            </a:r>
          </a:p>
          <a:p>
            <a:endParaRPr lang="en-IN" sz="1000">
              <a:solidFill>
                <a:srgbClr val="F8F8F2"/>
              </a:solidFill>
              <a:latin typeface="Calibri" panose="020F0502020204030204" pitchFamily="34" charset="0"/>
            </a:endParaRP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"query": "Why is images service slow?",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"services": ["images"],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"time_range": "1h"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}</a:t>
            </a:r>
          </a:p>
          <a:p>
            <a:endParaRPr lang="en-IN" sz="1000">
              <a:solidFill>
                <a:srgbClr val="F8F8F2"/>
              </a:solidFill>
              <a:latin typeface="Calibri" panose="020F0502020204030204" pitchFamily="34" charset="0"/>
            </a:endParaRP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Response: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"root_cause": "Heap at 90%,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  GC pauses 52ms avg",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"confidence": 0.94,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"recommendations": [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  "Increase Xmx to 512m",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  "Enable G1GC",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  "Add async processing"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],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  "estimated_fix": "15 min"</a:t>
            </a:r>
          </a:p>
          <a:p>
            <a:r>
              <a:rPr lang="en-IN" sz="1000">
                <a:solidFill>
                  <a:srgbClr val="F8F8F2"/>
                </a:solidFill>
                <a:latin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486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7FE4A-B55B-C9A8-6C94-5CA732808617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fr-FR" sz="3000" b="1">
                <a:solidFill>
                  <a:srgbClr val="1B2A4A"/>
                </a:solidFill>
                <a:latin typeface="Calibri" panose="020F0502020204030204" pitchFamily="34" charset="0"/>
              </a:rPr>
              <a:t>CI/CD Pipeline - GitHub Actions</a:t>
            </a:r>
            <a:endParaRPr lang="en-IN" sz="3000" b="1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DDD189-E41C-B707-4B59-94BB8A93C848}"/>
              </a:ext>
            </a:extLst>
          </p:cNvPr>
          <p:cNvSpPr/>
          <p:nvPr/>
        </p:nvSpPr>
        <p:spPr>
          <a:xfrm>
            <a:off x="274320" y="1554480"/>
            <a:ext cx="1417320" cy="77724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01557-99B6-5CEA-D97A-BC69D167D235}"/>
              </a:ext>
            </a:extLst>
          </p:cNvPr>
          <p:cNvSpPr txBox="1"/>
          <p:nvPr/>
        </p:nvSpPr>
        <p:spPr>
          <a:xfrm>
            <a:off x="274320" y="1554480"/>
            <a:ext cx="141732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Code Push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693BE-E58B-E016-D9A0-B3267BDFE08A}"/>
              </a:ext>
            </a:extLst>
          </p:cNvPr>
          <p:cNvSpPr txBox="1"/>
          <p:nvPr/>
        </p:nvSpPr>
        <p:spPr>
          <a:xfrm>
            <a:off x="274320" y="2377440"/>
            <a:ext cx="141732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900">
                <a:solidFill>
                  <a:srgbClr val="546E7A"/>
                </a:solidFill>
                <a:latin typeface="Calibri" panose="020F0502020204030204" pitchFamily="34" charset="0"/>
              </a:rPr>
              <a:t>git push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EF8FB-5B50-CCFD-052D-AF7C3125A201}"/>
              </a:ext>
            </a:extLst>
          </p:cNvPr>
          <p:cNvSpPr txBox="1"/>
          <p:nvPr/>
        </p:nvSpPr>
        <p:spPr>
          <a:xfrm>
            <a:off x="1691640" y="1554480"/>
            <a:ext cx="164592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1B2A4A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3593F0-832A-EB7F-20BB-88DC2C2E4BB9}"/>
              </a:ext>
            </a:extLst>
          </p:cNvPr>
          <p:cNvSpPr/>
          <p:nvPr/>
        </p:nvSpPr>
        <p:spPr>
          <a:xfrm>
            <a:off x="1856232" y="1554480"/>
            <a:ext cx="1417320" cy="77724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5BF86-1360-C64A-DEB2-277CD610B898}"/>
              </a:ext>
            </a:extLst>
          </p:cNvPr>
          <p:cNvSpPr txBox="1"/>
          <p:nvPr/>
        </p:nvSpPr>
        <p:spPr>
          <a:xfrm>
            <a:off x="1856232" y="1554480"/>
            <a:ext cx="141732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Unit Tests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C7AB6-C583-AE05-CEFE-22DE02F47F8D}"/>
              </a:ext>
            </a:extLst>
          </p:cNvPr>
          <p:cNvSpPr txBox="1"/>
          <p:nvPr/>
        </p:nvSpPr>
        <p:spPr>
          <a:xfrm>
            <a:off x="1856232" y="2377440"/>
            <a:ext cx="141732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900">
                <a:solidFill>
                  <a:srgbClr val="546E7A"/>
                </a:solidFill>
                <a:latin typeface="Calibri" panose="020F0502020204030204" pitchFamily="34" charset="0"/>
              </a:rPr>
              <a:t>JUnit/Maven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ADB285-4328-65A9-3D86-79C6B6C14A06}"/>
              </a:ext>
            </a:extLst>
          </p:cNvPr>
          <p:cNvSpPr txBox="1"/>
          <p:nvPr/>
        </p:nvSpPr>
        <p:spPr>
          <a:xfrm>
            <a:off x="3273552" y="1554480"/>
            <a:ext cx="164592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1B2A4A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1B8D10-61C5-E72A-B371-81C93A2C5EDF}"/>
              </a:ext>
            </a:extLst>
          </p:cNvPr>
          <p:cNvSpPr/>
          <p:nvPr/>
        </p:nvSpPr>
        <p:spPr>
          <a:xfrm>
            <a:off x="3438144" y="1554480"/>
            <a:ext cx="1417320" cy="777240"/>
          </a:xfrm>
          <a:prstGeom prst="round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830F8D-BFA4-A79B-791B-9B6B2ED4ABF2}"/>
              </a:ext>
            </a:extLst>
          </p:cNvPr>
          <p:cNvSpPr txBox="1"/>
          <p:nvPr/>
        </p:nvSpPr>
        <p:spPr>
          <a:xfrm>
            <a:off x="3438144" y="1554480"/>
            <a:ext cx="141732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Docker Build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482A0-3C93-82F1-2482-E82EF0A08513}"/>
              </a:ext>
            </a:extLst>
          </p:cNvPr>
          <p:cNvSpPr txBox="1"/>
          <p:nvPr/>
        </p:nvSpPr>
        <p:spPr>
          <a:xfrm>
            <a:off x="3438144" y="2377440"/>
            <a:ext cx="141732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900">
                <a:solidFill>
                  <a:srgbClr val="546E7A"/>
                </a:solidFill>
                <a:latin typeface="Calibri" panose="020F0502020204030204" pitchFamily="34" charset="0"/>
              </a:rPr>
              <a:t>BuildX multi-arch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F5370-606D-1E99-4DCD-675F52C2A7ED}"/>
              </a:ext>
            </a:extLst>
          </p:cNvPr>
          <p:cNvSpPr txBox="1"/>
          <p:nvPr/>
        </p:nvSpPr>
        <p:spPr>
          <a:xfrm>
            <a:off x="4855464" y="1554480"/>
            <a:ext cx="164592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1B2A4A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AB405F-08F4-D521-D87E-1583D6873108}"/>
              </a:ext>
            </a:extLst>
          </p:cNvPr>
          <p:cNvSpPr/>
          <p:nvPr/>
        </p:nvSpPr>
        <p:spPr>
          <a:xfrm>
            <a:off x="5020056" y="1554480"/>
            <a:ext cx="1417320" cy="777240"/>
          </a:xfrm>
          <a:prstGeom prst="round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3D4FBA-837D-F96E-5686-47135FA774F0}"/>
              </a:ext>
            </a:extLst>
          </p:cNvPr>
          <p:cNvSpPr txBox="1"/>
          <p:nvPr/>
        </p:nvSpPr>
        <p:spPr>
          <a:xfrm>
            <a:off x="5020056" y="1554480"/>
            <a:ext cx="141732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Push to Hub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17813F-8CC3-8AF0-07C5-747DE7B4D04F}"/>
              </a:ext>
            </a:extLst>
          </p:cNvPr>
          <p:cNvSpPr txBox="1"/>
          <p:nvPr/>
        </p:nvSpPr>
        <p:spPr>
          <a:xfrm>
            <a:off x="5020056" y="2377440"/>
            <a:ext cx="141732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900">
                <a:solidFill>
                  <a:srgbClr val="546E7A"/>
                </a:solidFill>
                <a:latin typeface="Calibri" panose="020F0502020204030204" pitchFamily="34" charset="0"/>
              </a:rPr>
              <a:t>sudhavuppalapati/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34426B-B0C6-A967-9ECA-5A81E8A91CCF}"/>
              </a:ext>
            </a:extLst>
          </p:cNvPr>
          <p:cNvSpPr txBox="1"/>
          <p:nvPr/>
        </p:nvSpPr>
        <p:spPr>
          <a:xfrm>
            <a:off x="6437376" y="1554480"/>
            <a:ext cx="164592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1B2A4A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EF6B22-9F53-84CF-2ED7-4CD1498AD7B5}"/>
              </a:ext>
            </a:extLst>
          </p:cNvPr>
          <p:cNvSpPr/>
          <p:nvPr/>
        </p:nvSpPr>
        <p:spPr>
          <a:xfrm>
            <a:off x="6601968" y="1554480"/>
            <a:ext cx="1417320" cy="77724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9B992A-1DAF-CB3C-E913-891CBDFF5E9D}"/>
              </a:ext>
            </a:extLst>
          </p:cNvPr>
          <p:cNvSpPr txBox="1"/>
          <p:nvPr/>
        </p:nvSpPr>
        <p:spPr>
          <a:xfrm>
            <a:off x="6601968" y="1554480"/>
            <a:ext cx="141732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K8s Deploy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6A19BA-D4A7-DA88-302F-BD304B0BBCBD}"/>
              </a:ext>
            </a:extLst>
          </p:cNvPr>
          <p:cNvSpPr txBox="1"/>
          <p:nvPr/>
        </p:nvSpPr>
        <p:spPr>
          <a:xfrm>
            <a:off x="6601968" y="2377440"/>
            <a:ext cx="141732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900">
                <a:solidFill>
                  <a:srgbClr val="546E7A"/>
                </a:solidFill>
                <a:latin typeface="Calibri" panose="020F0502020204030204" pitchFamily="34" charset="0"/>
              </a:rPr>
              <a:t>kubectl apply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4DB230-736C-DE46-3E20-5C098DB68AC7}"/>
              </a:ext>
            </a:extLst>
          </p:cNvPr>
          <p:cNvSpPr txBox="1"/>
          <p:nvPr/>
        </p:nvSpPr>
        <p:spPr>
          <a:xfrm>
            <a:off x="8019288" y="1554480"/>
            <a:ext cx="164592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1B2A4A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C22B89-30D6-D011-0DC7-1D0BFDD38A14}"/>
              </a:ext>
            </a:extLst>
          </p:cNvPr>
          <p:cNvSpPr/>
          <p:nvPr/>
        </p:nvSpPr>
        <p:spPr>
          <a:xfrm>
            <a:off x="8183880" y="1554480"/>
            <a:ext cx="1417320" cy="77724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5A856E-8066-D244-4AC0-AC10A018E6C4}"/>
              </a:ext>
            </a:extLst>
          </p:cNvPr>
          <p:cNvSpPr txBox="1"/>
          <p:nvPr/>
        </p:nvSpPr>
        <p:spPr>
          <a:xfrm>
            <a:off x="8183880" y="1554480"/>
            <a:ext cx="141732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Health Check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6A3645-446F-8B48-9B72-76BBF18C2A9B}"/>
              </a:ext>
            </a:extLst>
          </p:cNvPr>
          <p:cNvSpPr txBox="1"/>
          <p:nvPr/>
        </p:nvSpPr>
        <p:spPr>
          <a:xfrm>
            <a:off x="8183880" y="2377440"/>
            <a:ext cx="141732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900">
                <a:solidFill>
                  <a:srgbClr val="546E7A"/>
                </a:solidFill>
                <a:latin typeface="Calibri" panose="020F0502020204030204" pitchFamily="34" charset="0"/>
              </a:rPr>
              <a:t>actuator/health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17A976-1F02-7413-9B21-62464C1DA42D}"/>
              </a:ext>
            </a:extLst>
          </p:cNvPr>
          <p:cNvSpPr txBox="1"/>
          <p:nvPr/>
        </p:nvSpPr>
        <p:spPr>
          <a:xfrm>
            <a:off x="9601200" y="1554480"/>
            <a:ext cx="164592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1B2A4A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34C18CA-813B-37A0-616E-740ACA3E1FB7}"/>
              </a:ext>
            </a:extLst>
          </p:cNvPr>
          <p:cNvSpPr/>
          <p:nvPr/>
        </p:nvSpPr>
        <p:spPr>
          <a:xfrm>
            <a:off x="9765792" y="1554480"/>
            <a:ext cx="1417320" cy="777240"/>
          </a:xfrm>
          <a:prstGeom prst="round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68D46F-E2FF-A85B-DF5C-7BA1A6666D3B}"/>
              </a:ext>
            </a:extLst>
          </p:cNvPr>
          <p:cNvSpPr txBox="1"/>
          <p:nvPr/>
        </p:nvSpPr>
        <p:spPr>
          <a:xfrm>
            <a:off x="9765792" y="1554480"/>
            <a:ext cx="1417320" cy="7772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Calibri" panose="020F0502020204030204" pitchFamily="34" charset="0"/>
              </a:rPr>
              <a:t>Prometheus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8043D0-C43E-8648-97A0-A6EB8D2F7417}"/>
              </a:ext>
            </a:extLst>
          </p:cNvPr>
          <p:cNvSpPr txBox="1"/>
          <p:nvPr/>
        </p:nvSpPr>
        <p:spPr>
          <a:xfrm>
            <a:off x="9765792" y="2377440"/>
            <a:ext cx="1417320" cy="3200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900">
                <a:solidFill>
                  <a:srgbClr val="546E7A"/>
                </a:solidFill>
                <a:latin typeface="Calibri" panose="020F0502020204030204" pitchFamily="34" charset="0"/>
              </a:rPr>
              <a:t>metrics scrape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3941D55-2BA9-C1BE-C882-7A99543EF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533174"/>
              </p:ext>
            </p:extLst>
          </p:nvPr>
        </p:nvGraphicFramePr>
        <p:xfrm>
          <a:off x="274319" y="2880360"/>
          <a:ext cx="116128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367619490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5035119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68261447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49966167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439526295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Stage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Tool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Duration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Trigger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Artifact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7933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Code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&lt; 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PR merge to 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683198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Docker Build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Docker BuildX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4-8 min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Push to master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amd64 + arm64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1546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Hub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Docker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1-2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Build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9672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K8s Deploy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kubectl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30s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Hub push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Deployment update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99293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Health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curl/actuator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60s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Deploy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Status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837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219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25E2D-12EE-BAA0-8D3A-D8001E5CD25F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000" b="1">
                <a:solidFill>
                  <a:srgbClr val="1B2A4A"/>
                </a:solidFill>
                <a:latin typeface="Calibri" panose="020F0502020204030204" pitchFamily="34" charset="0"/>
              </a:rPr>
              <a:t>Infrastructure as Code - CloudFormation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D29DC8-CF07-08D2-00CE-46C8A1D7B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827673"/>
              </p:ext>
            </p:extLst>
          </p:nvPr>
        </p:nvGraphicFramePr>
        <p:xfrm>
          <a:off x="274319" y="914400"/>
          <a:ext cx="11612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77179222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95075407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14317271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3997312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109756837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Stack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Template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Resources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Key Outputs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Deploy Time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3349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agentic-infra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01-infrastructure.yaml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VPC, ALB, ECS Cluster, Cloud Map, IAM Roles, Secrets Manager, CW Logs</a:t>
                      </a:r>
                      <a:endParaRPr lang="en-IN" sz="900" b="0">
                        <a:solidFill>
                          <a:srgbClr val="1B2A4A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VpcId, ALBDNSName, ClusterName, TaskRoleArns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~8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95051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agentic-microservices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02-microservices.yaml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 ECS Services, 5 Task Defs, 5 Target Groups, 5 ALB Rules, 5 SD Services</a:t>
                      </a:r>
                      <a:endParaRPr lang="en-IN" sz="900" b="0">
                        <a:solidFill>
                          <a:srgbClr val="1B2A4A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Service ARNs, ALB URLs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~5 min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63865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agentic-observability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03-observability.yaml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Prometheus/Grafana/Loki ECS Services, Target Groups, ALB Rules</a:t>
                      </a:r>
                      <a:endParaRPr lang="en-IN" sz="900" b="0">
                        <a:solidFill>
                          <a:srgbClr val="1B2A4A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GrafanaURL, PrometheusURL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~4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4701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8D50AFE-70B7-1573-418B-DB50D16098D6}"/>
              </a:ext>
            </a:extLst>
          </p:cNvPr>
          <p:cNvSpPr/>
          <p:nvPr/>
        </p:nvSpPr>
        <p:spPr>
          <a:xfrm>
            <a:off x="274320" y="3154680"/>
            <a:ext cx="5577840" cy="12801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D1BC3-8A89-1360-F225-D2458E4601AB}"/>
              </a:ext>
            </a:extLst>
          </p:cNvPr>
          <p:cNvSpPr txBox="1"/>
          <p:nvPr/>
        </p:nvSpPr>
        <p:spPr>
          <a:xfrm>
            <a:off x="411480" y="3264408"/>
            <a:ext cx="53035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200" b="1">
                <a:solidFill>
                  <a:srgbClr val="1B2A4A"/>
                </a:solidFill>
                <a:latin typeface="Calibri" panose="020F0502020204030204" pitchFamily="34" charset="0"/>
              </a:rPr>
              <a:t>PermissionsBoundary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901F5-AE00-C938-7B86-8C8BEA3883D9}"/>
              </a:ext>
            </a:extLst>
          </p:cNvPr>
          <p:cNvSpPr txBox="1"/>
          <p:nvPr/>
        </p:nvSpPr>
        <p:spPr>
          <a:xfrm>
            <a:off x="411480" y="3657600"/>
            <a:ext cx="530352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000">
                <a:solidFill>
                  <a:srgbClr val="546E7A"/>
                </a:solidFill>
                <a:latin typeface="Calibri" panose="020F0502020204030204" pitchFamily="34" charset="0"/>
              </a:rPr>
              <a:t>Policy name input, ARN auto-constructed. Org-compliant IAM roles on all 3 stacks.</a:t>
            </a:r>
            <a:endParaRPr lang="en-IN" sz="1000">
              <a:solidFill>
                <a:srgbClr val="546E7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92A54-7C39-BDB1-A4EB-296B489673CE}"/>
              </a:ext>
            </a:extLst>
          </p:cNvPr>
          <p:cNvSpPr/>
          <p:nvPr/>
        </p:nvSpPr>
        <p:spPr>
          <a:xfrm>
            <a:off x="6035040" y="3154680"/>
            <a:ext cx="5577840" cy="12801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9287A-BAEA-90D8-3DEF-5DB19CD9255C}"/>
              </a:ext>
            </a:extLst>
          </p:cNvPr>
          <p:cNvSpPr txBox="1"/>
          <p:nvPr/>
        </p:nvSpPr>
        <p:spPr>
          <a:xfrm>
            <a:off x="6172200" y="3264408"/>
            <a:ext cx="53035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200" b="1">
                <a:solidFill>
                  <a:srgbClr val="1B2A4A"/>
                </a:solidFill>
                <a:latin typeface="Calibri" panose="020F0502020204030204" pitchFamily="34" charset="0"/>
              </a:rPr>
              <a:t>Cross-Stack Exports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89332-E137-54B5-EDDB-C1844CF9CF02}"/>
              </a:ext>
            </a:extLst>
          </p:cNvPr>
          <p:cNvSpPr txBox="1"/>
          <p:nvPr/>
        </p:nvSpPr>
        <p:spPr>
          <a:xfrm>
            <a:off x="6172200" y="3657600"/>
            <a:ext cx="530352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000">
                <a:solidFill>
                  <a:srgbClr val="546E7A"/>
                </a:solidFill>
                <a:latin typeface="Calibri" panose="020F0502020204030204" pitchFamily="34" charset="0"/>
              </a:rPr>
              <a:t>Stack 01 exports consumed by 02 and 03. VpcId, SubnetIds, ClusterName, RoleArns, SecretArn.</a:t>
            </a:r>
            <a:endParaRPr lang="en-IN" sz="1000">
              <a:solidFill>
                <a:srgbClr val="546E7A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972E7B-E744-891C-71EC-E729DB09014E}"/>
              </a:ext>
            </a:extLst>
          </p:cNvPr>
          <p:cNvSpPr/>
          <p:nvPr/>
        </p:nvSpPr>
        <p:spPr>
          <a:xfrm>
            <a:off x="274320" y="4663440"/>
            <a:ext cx="5577840" cy="12801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2EEB0-3717-67E5-932C-2FBB12B73D5F}"/>
              </a:ext>
            </a:extLst>
          </p:cNvPr>
          <p:cNvSpPr txBox="1"/>
          <p:nvPr/>
        </p:nvSpPr>
        <p:spPr>
          <a:xfrm>
            <a:off x="411480" y="4773168"/>
            <a:ext cx="53035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200" b="1">
                <a:solidFill>
                  <a:srgbClr val="1B2A4A"/>
                </a:solidFill>
                <a:latin typeface="Calibri" panose="020F0502020204030204" pitchFamily="34" charset="0"/>
              </a:rPr>
              <a:t>Secret Management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1FF4CC-DD97-C7BA-7C31-4E33F5B07A68}"/>
              </a:ext>
            </a:extLst>
          </p:cNvPr>
          <p:cNvSpPr txBox="1"/>
          <p:nvPr/>
        </p:nvSpPr>
        <p:spPr>
          <a:xfrm>
            <a:off x="411480" y="5166360"/>
            <a:ext cx="530352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000">
                <a:solidFill>
                  <a:srgbClr val="546E7A"/>
                </a:solidFill>
                <a:latin typeface="Calibri" panose="020F0502020204030204" pitchFamily="34" charset="0"/>
              </a:rPr>
              <a:t>Docker Hub creds in Secrets Manager. ECS pulls via repositoryCredentials at runtime.</a:t>
            </a:r>
            <a:endParaRPr lang="en-IN" sz="1000">
              <a:solidFill>
                <a:srgbClr val="546E7A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027812-A174-66C2-E8D0-75859B7B3624}"/>
              </a:ext>
            </a:extLst>
          </p:cNvPr>
          <p:cNvSpPr/>
          <p:nvPr/>
        </p:nvSpPr>
        <p:spPr>
          <a:xfrm>
            <a:off x="6035040" y="4663440"/>
            <a:ext cx="5577840" cy="128016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EA879-A189-9C38-430E-B5D70C45CB32}"/>
              </a:ext>
            </a:extLst>
          </p:cNvPr>
          <p:cNvSpPr txBox="1"/>
          <p:nvPr/>
        </p:nvSpPr>
        <p:spPr>
          <a:xfrm>
            <a:off x="6172200" y="4773168"/>
            <a:ext cx="530352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200" b="1">
                <a:solidFill>
                  <a:srgbClr val="1B2A4A"/>
                </a:solidFill>
                <a:latin typeface="Calibri" panose="020F0502020204030204" pitchFamily="34" charset="0"/>
              </a:rPr>
              <a:t>Path-Based Routing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26C65-AE4C-6167-8586-39C8884BE1EE}"/>
              </a:ext>
            </a:extLst>
          </p:cNvPr>
          <p:cNvSpPr txBox="1"/>
          <p:nvPr/>
        </p:nvSpPr>
        <p:spPr>
          <a:xfrm>
            <a:off x="6172200" y="5166360"/>
            <a:ext cx="530352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000">
                <a:solidFill>
                  <a:srgbClr val="546E7A"/>
                </a:solidFill>
                <a:latin typeface="Calibri" panose="020F0502020204030204" pitchFamily="34" charset="0"/>
              </a:rPr>
              <a:t>8 ALB listener rules (priorities 10-80). Single ALB serves all 8 services.</a:t>
            </a:r>
            <a:endParaRPr lang="en-IN" sz="1000">
              <a:solidFill>
                <a:srgbClr val="546E7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57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90D1C2-CDDB-48C3-5B41-B187DA8C4FD8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000" b="1">
                <a:solidFill>
                  <a:srgbClr val="1B2A4A"/>
                </a:solidFill>
                <a:latin typeface="Calibri" panose="020F0502020204030204" pitchFamily="34" charset="0"/>
              </a:rPr>
              <a:t>Cost Analysis and Optimization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5A9E8A-B055-18EB-8328-C38CFE091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333388"/>
              </p:ext>
            </p:extLst>
          </p:nvPr>
        </p:nvGraphicFramePr>
        <p:xfrm>
          <a:off x="274319" y="91440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703971015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99227467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81332935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175568329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4071307829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08456059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Component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Unit Cost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Units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Monthly Before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Monthly After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Savings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5839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ECS Fargate vCPU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USD0.04048/hr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8 vCPU to 4 vCPU</a:t>
                      </a:r>
                      <a:endParaRPr lang="en-IN" sz="1000" b="0">
                        <a:solidFill>
                          <a:srgbClr val="1B2A4A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14084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ECS Fargate Memory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USD0.004445/hr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16GB to 8GB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26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28686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Application Load Balancer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USD16.20/mo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 ALB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11189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CloudWatch Logs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USD0.50/GB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50GB/mo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80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25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55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42712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NAT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USD0.045/hr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 NAT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72316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Secrets Manager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USD0.40/secret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1 secret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0.40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</a:rPr>
                        <a:t>USD 4.60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51769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0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USD 449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USD 217.40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USD 231.60 (52%)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373936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382FE8-A612-1F6C-3E4E-3FB82818D6A5}"/>
              </a:ext>
            </a:extLst>
          </p:cNvPr>
          <p:cNvSpPr/>
          <p:nvPr/>
        </p:nvSpPr>
        <p:spPr>
          <a:xfrm>
            <a:off x="457200" y="4572000"/>
            <a:ext cx="3383280" cy="1691640"/>
          </a:xfrm>
          <a:prstGeom prst="roundRect">
            <a:avLst/>
          </a:prstGeom>
          <a:solidFill>
            <a:srgbClr val="EAFA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E7BE4-8555-4901-3419-385ABE82794C}"/>
              </a:ext>
            </a:extLst>
          </p:cNvPr>
          <p:cNvSpPr txBox="1"/>
          <p:nvPr/>
        </p:nvSpPr>
        <p:spPr>
          <a:xfrm>
            <a:off x="457200" y="4663440"/>
            <a:ext cx="3383280" cy="8229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4200" b="1">
                <a:solidFill>
                  <a:srgbClr val="27AE60"/>
                </a:solidFill>
                <a:latin typeface="Calibri" panose="020F0502020204030204" pitchFamily="34" charset="0"/>
              </a:rPr>
              <a:t>52%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2A7D2-4126-E5E2-CEAF-5C7B8B393DF7}"/>
              </a:ext>
            </a:extLst>
          </p:cNvPr>
          <p:cNvSpPr txBox="1"/>
          <p:nvPr/>
        </p:nvSpPr>
        <p:spPr>
          <a:xfrm>
            <a:off x="457200" y="5486400"/>
            <a:ext cx="338328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Total Cost Reduction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5BE646-6059-5093-D556-E6B5A99C2732}"/>
              </a:ext>
            </a:extLst>
          </p:cNvPr>
          <p:cNvSpPr/>
          <p:nvPr/>
        </p:nvSpPr>
        <p:spPr>
          <a:xfrm>
            <a:off x="4389120" y="4572000"/>
            <a:ext cx="3383280" cy="169164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B2499-9BCA-4029-6D0C-17B15E962E82}"/>
              </a:ext>
            </a:extLst>
          </p:cNvPr>
          <p:cNvSpPr txBox="1"/>
          <p:nvPr/>
        </p:nvSpPr>
        <p:spPr>
          <a:xfrm>
            <a:off x="4389120" y="4663440"/>
            <a:ext cx="3383280" cy="8229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3000" b="1">
                <a:solidFill>
                  <a:srgbClr val="F47B20"/>
                </a:solidFill>
                <a:latin typeface="Calibri" panose="020F0502020204030204" pitchFamily="34" charset="0"/>
              </a:rPr>
              <a:t>USD 231.60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1714B9-FE5E-BD7F-BE44-CBDA7C592DAD}"/>
              </a:ext>
            </a:extLst>
          </p:cNvPr>
          <p:cNvSpPr txBox="1"/>
          <p:nvPr/>
        </p:nvSpPr>
        <p:spPr>
          <a:xfrm>
            <a:off x="4389120" y="5486400"/>
            <a:ext cx="338328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Monthly Savings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640B39-F0AE-28A9-6C0A-15E1E42909CC}"/>
              </a:ext>
            </a:extLst>
          </p:cNvPr>
          <p:cNvSpPr/>
          <p:nvPr/>
        </p:nvSpPr>
        <p:spPr>
          <a:xfrm>
            <a:off x="8412480" y="4572000"/>
            <a:ext cx="3383281" cy="1691640"/>
          </a:xfrm>
          <a:prstGeom prst="roundRect">
            <a:avLst/>
          </a:prstGeom>
          <a:solidFill>
            <a:srgbClr val="EBF5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711944-FB46-498C-DDD3-8215300F7005}"/>
              </a:ext>
            </a:extLst>
          </p:cNvPr>
          <p:cNvSpPr txBox="1"/>
          <p:nvPr/>
        </p:nvSpPr>
        <p:spPr>
          <a:xfrm>
            <a:off x="8412480" y="4709160"/>
            <a:ext cx="3383280" cy="6858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4A90D9"/>
                </a:solidFill>
                <a:latin typeface="Calibri" panose="020F0502020204030204" pitchFamily="34" charset="0"/>
              </a:rPr>
              <a:t>Right-sizing + Auto-scaling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47F68-5BDC-6349-E921-58B1619A526A}"/>
              </a:ext>
            </a:extLst>
          </p:cNvPr>
          <p:cNvSpPr txBox="1"/>
          <p:nvPr/>
        </p:nvSpPr>
        <p:spPr>
          <a:xfrm>
            <a:off x="8412480" y="5486400"/>
            <a:ext cx="3383280" cy="5943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200">
                <a:solidFill>
                  <a:srgbClr val="1B2A4A"/>
                </a:solidFill>
                <a:latin typeface="Calibri" panose="020F0502020204030204" pitchFamily="34" charset="0"/>
              </a:rPr>
              <a:t>Key Lever</a:t>
            </a:r>
          </a:p>
        </p:txBody>
      </p:sp>
    </p:spTree>
    <p:extLst>
      <p:ext uri="{BB962C8B-B14F-4D97-AF65-F5344CB8AC3E}">
        <p14:creationId xmlns:p14="http://schemas.microsoft.com/office/powerpoint/2010/main" val="2103516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866CE-4104-1AF8-63EF-75DDCF24224B}"/>
              </a:ext>
            </a:extLst>
          </p:cNvPr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3000" b="1">
                <a:solidFill>
                  <a:srgbClr val="1B2A4A"/>
                </a:solidFill>
                <a:latin typeface="Calibri" panose="020F0502020204030204" pitchFamily="34" charset="0"/>
              </a:rPr>
              <a:t>Outcomes Achieved and Roadmap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B7F27-3ABD-E6A3-1A74-73E6C7751A09}"/>
              </a:ext>
            </a:extLst>
          </p:cNvPr>
          <p:cNvSpPr/>
          <p:nvPr/>
        </p:nvSpPr>
        <p:spPr>
          <a:xfrm>
            <a:off x="274320" y="914400"/>
            <a:ext cx="5486400" cy="54864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F2071-1A72-31A3-DFDA-D84D8ABC5BFD}"/>
              </a:ext>
            </a:extLst>
          </p:cNvPr>
          <p:cNvSpPr txBox="1"/>
          <p:nvPr/>
        </p:nvSpPr>
        <p:spPr>
          <a:xfrm>
            <a:off x="274320" y="914400"/>
            <a:ext cx="548640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OUTCOMES ACHIEVED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2F86C-8DB0-0466-253E-8C00B98CA0E4}"/>
              </a:ext>
            </a:extLst>
          </p:cNvPr>
          <p:cNvSpPr/>
          <p:nvPr/>
        </p:nvSpPr>
        <p:spPr>
          <a:xfrm>
            <a:off x="274320" y="1463040"/>
            <a:ext cx="5486400" cy="64008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0358C-6034-D2A9-26B6-A9FDF732BE85}"/>
              </a:ext>
            </a:extLst>
          </p:cNvPr>
          <p:cNvSpPr txBox="1"/>
          <p:nvPr/>
        </p:nvSpPr>
        <p:spPr>
          <a:xfrm>
            <a:off x="411480" y="1508760"/>
            <a:ext cx="52120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&gt;&gt; MTTR reduced from 45 min to 18 min (60%)</a:t>
            </a:r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FD890-D3B2-004A-2792-00E75C9BBB6B}"/>
              </a:ext>
            </a:extLst>
          </p:cNvPr>
          <p:cNvSpPr/>
          <p:nvPr/>
        </p:nvSpPr>
        <p:spPr>
          <a:xfrm>
            <a:off x="274320" y="2103120"/>
            <a:ext cx="5486400" cy="640080"/>
          </a:xfrm>
          <a:prstGeom prst="rect">
            <a:avLst/>
          </a:prstGeom>
          <a:solidFill>
            <a:srgbClr val="EBF5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41926B-6C35-9076-CB9B-DC95D730BA31}"/>
              </a:ext>
            </a:extLst>
          </p:cNvPr>
          <p:cNvSpPr txBox="1"/>
          <p:nvPr/>
        </p:nvSpPr>
        <p:spPr>
          <a:xfrm>
            <a:off x="411480" y="2148840"/>
            <a:ext cx="52120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&gt;&gt; P99 latency &lt; 500ms (ecommerce, product)</a:t>
            </a:r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582062-63B8-80D1-F4D9-BF334641E20B}"/>
              </a:ext>
            </a:extLst>
          </p:cNvPr>
          <p:cNvSpPr/>
          <p:nvPr/>
        </p:nvSpPr>
        <p:spPr>
          <a:xfrm>
            <a:off x="274320" y="2743200"/>
            <a:ext cx="5486400" cy="64008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01860-8B36-7F93-DB9B-7C042B8B6BE3}"/>
              </a:ext>
            </a:extLst>
          </p:cNvPr>
          <p:cNvSpPr txBox="1"/>
          <p:nvPr/>
        </p:nvSpPr>
        <p:spPr>
          <a:xfrm>
            <a:off x="411480" y="2788920"/>
            <a:ext cx="52120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&gt;&gt; 99.85% overall availability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A6D511-8E0D-B393-E59F-01ABF203075A}"/>
              </a:ext>
            </a:extLst>
          </p:cNvPr>
          <p:cNvSpPr/>
          <p:nvPr/>
        </p:nvSpPr>
        <p:spPr>
          <a:xfrm>
            <a:off x="274320" y="3383280"/>
            <a:ext cx="5486400" cy="640080"/>
          </a:xfrm>
          <a:prstGeom prst="rect">
            <a:avLst/>
          </a:prstGeom>
          <a:solidFill>
            <a:srgbClr val="EBF5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19928F-642B-7985-ABBD-D734B3A94D09}"/>
              </a:ext>
            </a:extLst>
          </p:cNvPr>
          <p:cNvSpPr txBox="1"/>
          <p:nvPr/>
        </p:nvSpPr>
        <p:spPr>
          <a:xfrm>
            <a:off x="411480" y="3429000"/>
            <a:ext cx="52120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&gt;&gt; 52% infrastructure cost reduction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81144D-40E6-FC95-FFBA-5876D3F6D5B1}"/>
              </a:ext>
            </a:extLst>
          </p:cNvPr>
          <p:cNvSpPr/>
          <p:nvPr/>
        </p:nvSpPr>
        <p:spPr>
          <a:xfrm>
            <a:off x="274320" y="4023360"/>
            <a:ext cx="5486400" cy="64008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1A1C3-5F1F-AC7C-FD11-63B9505AF89F}"/>
              </a:ext>
            </a:extLst>
          </p:cNvPr>
          <p:cNvSpPr txBox="1"/>
          <p:nvPr/>
        </p:nvSpPr>
        <p:spPr>
          <a:xfrm>
            <a:off x="411480" y="4069080"/>
            <a:ext cx="52120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&gt;&gt; CI/CD: commit-to-deploy in &lt; 10 min</a:t>
            </a:r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C968E0-6048-3A5C-D7B2-8CA1B9B1009E}"/>
              </a:ext>
            </a:extLst>
          </p:cNvPr>
          <p:cNvSpPr/>
          <p:nvPr/>
        </p:nvSpPr>
        <p:spPr>
          <a:xfrm>
            <a:off x="274320" y="4663440"/>
            <a:ext cx="5486400" cy="640080"/>
          </a:xfrm>
          <a:prstGeom prst="rect">
            <a:avLst/>
          </a:prstGeom>
          <a:solidFill>
            <a:srgbClr val="EBF5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3F2EE-8E50-7404-3AE1-51D1D27B4FE5}"/>
              </a:ext>
            </a:extLst>
          </p:cNvPr>
          <p:cNvSpPr txBox="1"/>
          <p:nvPr/>
        </p:nvSpPr>
        <p:spPr>
          <a:xfrm>
            <a:off x="411480" y="4709160"/>
            <a:ext cx="521208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&gt;&gt; Full observability: metrics, logs, traces</a:t>
            </a:r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7A19B8-CB8E-32DD-E6BE-DD5D47680707}"/>
              </a:ext>
            </a:extLst>
          </p:cNvPr>
          <p:cNvSpPr/>
          <p:nvPr/>
        </p:nvSpPr>
        <p:spPr>
          <a:xfrm>
            <a:off x="6035040" y="914400"/>
            <a:ext cx="5852160" cy="54864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0604FA-4F19-6502-D5CD-EA96433D6E12}"/>
              </a:ext>
            </a:extLst>
          </p:cNvPr>
          <p:cNvSpPr txBox="1"/>
          <p:nvPr/>
        </p:nvSpPr>
        <p:spPr>
          <a:xfrm>
            <a:off x="6035040" y="914400"/>
            <a:ext cx="5852160" cy="54864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2026 ROADMAP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CD2D0B-F2EC-DE87-D855-21AA58FA8EC9}"/>
              </a:ext>
            </a:extLst>
          </p:cNvPr>
          <p:cNvSpPr/>
          <p:nvPr/>
        </p:nvSpPr>
        <p:spPr>
          <a:xfrm>
            <a:off x="6035040" y="1554480"/>
            <a:ext cx="5852160" cy="1463040"/>
          </a:xfrm>
          <a:prstGeom prst="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9F23B4-87EF-8CD0-5633-0B0BE0F355B4}"/>
              </a:ext>
            </a:extLst>
          </p:cNvPr>
          <p:cNvSpPr txBox="1"/>
          <p:nvPr/>
        </p:nvSpPr>
        <p:spPr>
          <a:xfrm>
            <a:off x="6172200" y="1645920"/>
            <a:ext cx="55778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Q3 2026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4DD308-3854-95FD-F20F-E063845C21FA}"/>
              </a:ext>
            </a:extLst>
          </p:cNvPr>
          <p:cNvSpPr txBox="1"/>
          <p:nvPr/>
        </p:nvSpPr>
        <p:spPr>
          <a:xfrm>
            <a:off x="6172200" y="2029968"/>
            <a:ext cx="5577840" cy="9144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  Async image processing (SQS+Lambda)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  Fix image-service SLA breaches</a:t>
            </a:r>
          </a:p>
          <a:p>
            <a:r>
              <a:rPr lang="en-IN" sz="1100">
                <a:solidFill>
                  <a:srgbClr val="1B2A4A"/>
                </a:solidFill>
                <a:latin typeface="Calibri" panose="020F0502020204030204" pitchFamily="34" charset="0"/>
              </a:rPr>
              <a:t>  Xmx 512m for images 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714927-D0EE-4886-2BEB-4023A599CED5}"/>
              </a:ext>
            </a:extLst>
          </p:cNvPr>
          <p:cNvSpPr/>
          <p:nvPr/>
        </p:nvSpPr>
        <p:spPr>
          <a:xfrm>
            <a:off x="6035040" y="3108960"/>
            <a:ext cx="5852160" cy="1463040"/>
          </a:xfrm>
          <a:prstGeom prst="rect">
            <a:avLst/>
          </a:prstGeom>
          <a:solidFill>
            <a:srgbClr val="EBF5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357D16-6D97-C3E9-CADF-91A84315F545}"/>
              </a:ext>
            </a:extLst>
          </p:cNvPr>
          <p:cNvSpPr txBox="1"/>
          <p:nvPr/>
        </p:nvSpPr>
        <p:spPr>
          <a:xfrm>
            <a:off x="6172200" y="3200400"/>
            <a:ext cx="55778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Q4 2026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254343-E8ED-F8F7-56E5-19AE6D30B33B}"/>
              </a:ext>
            </a:extLst>
          </p:cNvPr>
          <p:cNvSpPr txBox="1"/>
          <p:nvPr/>
        </p:nvSpPr>
        <p:spPr>
          <a:xfrm>
            <a:off x="6172200" y="3584448"/>
            <a:ext cx="5577840" cy="9144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Service mesh (AWS App Mesh)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mTLS between services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Distributed tracing (X-Ray)</a:t>
            </a:r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0EC1A6-F5F2-6F18-D5CC-2DDCF3C38DCD}"/>
              </a:ext>
            </a:extLst>
          </p:cNvPr>
          <p:cNvSpPr/>
          <p:nvPr/>
        </p:nvSpPr>
        <p:spPr>
          <a:xfrm>
            <a:off x="6035040" y="4663440"/>
            <a:ext cx="5852160" cy="1463040"/>
          </a:xfrm>
          <a:prstGeom prst="rect">
            <a:avLst/>
          </a:prstGeom>
          <a:solidFill>
            <a:srgbClr val="E8F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66738-2F77-C525-4E70-45196E3E3BD6}"/>
              </a:ext>
            </a:extLst>
          </p:cNvPr>
          <p:cNvSpPr txBox="1"/>
          <p:nvPr/>
        </p:nvSpPr>
        <p:spPr>
          <a:xfrm>
            <a:off x="6172200" y="4754880"/>
            <a:ext cx="5577840" cy="347472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IN" sz="1300" b="1">
                <a:solidFill>
                  <a:srgbClr val="1B2A4A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0197B-76E2-3150-B6BB-3F26B7FDAC0C}"/>
              </a:ext>
            </a:extLst>
          </p:cNvPr>
          <p:cNvSpPr txBox="1"/>
          <p:nvPr/>
        </p:nvSpPr>
        <p:spPr>
          <a:xfrm>
            <a:off x="6172200" y="5138928"/>
            <a:ext cx="5577840" cy="9144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Multi-region active-active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Event-driven architecture</a:t>
            </a:r>
          </a:p>
          <a:p>
            <a:r>
              <a:rPr lang="en-US" sz="1100">
                <a:solidFill>
                  <a:srgbClr val="1B2A4A"/>
                </a:solidFill>
                <a:latin typeface="Calibri" panose="020F0502020204030204" pitchFamily="34" charset="0"/>
              </a:rPr>
              <a:t>  GenAI features in debug agent</a:t>
            </a:r>
            <a:endParaRPr lang="en-IN" sz="1100">
              <a:solidFill>
                <a:srgbClr val="1B2A4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103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8369F2-0ABA-4463-2BCB-849B6DB8D356}"/>
              </a:ext>
            </a:extLst>
          </p:cNvPr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50041-885A-91EF-AB15-38C1285F0B7A}"/>
              </a:ext>
            </a:extLst>
          </p:cNvPr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688D3-3C53-2C9B-8784-AE2D299DF973}"/>
              </a:ext>
            </a:extLst>
          </p:cNvPr>
          <p:cNvSpPr txBox="1"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6000" b="1">
                <a:solidFill>
                  <a:srgbClr val="FFFFFF"/>
                </a:solidFill>
                <a:latin typeface="Calibri" panose="020F0502020204030204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D0D57-6988-5EF9-2F1D-0F350E6C5106}"/>
              </a:ext>
            </a:extLst>
          </p:cNvPr>
          <p:cNvSpPr txBox="1"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2800" i="1">
                <a:solidFill>
                  <a:srgbClr val="4A90D9"/>
                </a:solidFill>
                <a:latin typeface="Calibri" panose="020F0502020204030204" pitchFamily="34" charset="0"/>
              </a:rPr>
              <a:t>Questions and Discussion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506991-F5E2-8AD6-A28A-6C5D9CA349F0}"/>
              </a:ext>
            </a:extLst>
          </p:cNvPr>
          <p:cNvSpPr/>
          <p:nvPr/>
        </p:nvSpPr>
        <p:spPr>
          <a:xfrm>
            <a:off x="2743200" y="3703320"/>
            <a:ext cx="6702552" cy="45720"/>
          </a:xfrm>
          <a:prstGeom prst="rect">
            <a:avLst/>
          </a:prstGeom>
          <a:solidFill>
            <a:srgbClr val="F47B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078E76-D508-45E4-17DB-F9F9F3470615}"/>
              </a:ext>
            </a:extLst>
          </p:cNvPr>
          <p:cNvSpPr txBox="1"/>
          <p:nvPr/>
        </p:nvSpPr>
        <p:spPr>
          <a:xfrm>
            <a:off x="457200" y="3840480"/>
            <a:ext cx="11247120" cy="13716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IN" sz="1400">
                <a:solidFill>
                  <a:srgbClr val="FFFFFF"/>
                </a:solidFill>
                <a:latin typeface="Calibri" panose="020F0502020204030204" pitchFamily="34" charset="0"/>
              </a:rPr>
              <a:t>GitHub: github.com/vuppalapatisn/agentic-microservices</a:t>
            </a:r>
          </a:p>
          <a:p>
            <a:pPr algn="ctr"/>
            <a:r>
              <a:rPr lang="en-IN" sz="1400">
                <a:solidFill>
                  <a:srgbClr val="FFFFFF"/>
                </a:solidFill>
                <a:latin typeface="Calibri" panose="020F0502020204030204" pitchFamily="34" charset="0"/>
              </a:rPr>
              <a:t>Docker Hub: hub.docker.com/u/sudhavuppalapati</a:t>
            </a:r>
          </a:p>
          <a:p>
            <a:pPr algn="ctr"/>
            <a:r>
              <a:rPr lang="en-IN" sz="1400">
                <a:solidFill>
                  <a:srgbClr val="FFFFFF"/>
                </a:solidFill>
                <a:latin typeface="Calibri" panose="020F0502020204030204" pitchFamily="34" charset="0"/>
              </a:rPr>
              <a:t>Email: sudhakar.vuppalapati@cognizant.com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CE319-B944-6007-96CB-F656A7869912}"/>
              </a:ext>
            </a:extLst>
          </p:cNvPr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vert="horz" wrap="square" lIns="38100" tIns="25400" rIns="38100" bIns="25400" rtlCol="0"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</a:rPr>
              <a:t>Agentic Microservices Platform | Engineering Excellence | Cognizant 2026</a:t>
            </a:r>
            <a:endParaRPr lang="en-IN" sz="1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42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1656</Words>
  <Application>Microsoft Office PowerPoint</Application>
  <PresentationFormat>Custom</PresentationFormat>
  <Paragraphs>566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Vuppalapati, Sudhakar (Cognizant)</dc:creator>
  <cp:lastModifiedBy>Vuppalapati, Sudhakar (Cognizant)</cp:lastModifiedBy>
  <cp:revision>1</cp:revision>
  <dcterms:created xsi:type="dcterms:W3CDTF">2026-07-08T16:58:10Z</dcterms:created>
  <dcterms:modified xsi:type="dcterms:W3CDTF">2026-07-08T16:58:10Z</dcterms:modified>
</cp:coreProperties>
</file>