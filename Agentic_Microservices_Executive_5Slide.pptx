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74C4F-E0B7-F287-DF1D-B250749AAE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4790DC-97A6-DA2A-A68E-77EDC1A3C9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40330-5448-2BC2-BAB7-78F2FC759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1981-5123-41C9-A4E5-F9C5086885D4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C8009-D635-5DEB-7207-D0A1C9AF3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8AE31-0E8A-B37B-59A8-DBDCB9877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9523-BFFE-46F7-97D0-1BAF2043C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756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F8219-05FB-A54E-FFA4-B214F9E7D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4D429-3782-12AF-339D-A521367F7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A567D-972D-03E6-5447-B14106DE4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1981-5123-41C9-A4E5-F9C5086885D4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47216-DCC6-8527-CCD1-9555F0D91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14C08-2F01-AAFF-C515-58580CC30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9523-BFFE-46F7-97D0-1BAF2043C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314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E685F-0665-38BF-F803-D04B7CD0A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633" y="1709739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1C9C3-6564-E3A1-5104-29DB37234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82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82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82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038DB-52FD-FF50-480E-8558221A8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1981-5123-41C9-A4E5-F9C5086885D4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273FF-7E13-4C80-50DC-544A1F6FD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FF4C5-2B60-BCE9-5D6F-0A37E40F5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9523-BFFE-46F7-97D0-1BAF2043C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486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F4162-27A9-40A6-5D5C-AB29F48FB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DA792-892C-0B94-9AA1-DD54E53BE0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45D494-F1C6-C3BB-28DF-DF00EF1BAC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2F0033-6A85-6701-B002-1A8D78B46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1981-5123-41C9-A4E5-F9C5086885D4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09344B-FC57-547C-3AA7-21012D092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7C088-1B5C-0B44-09E1-5F8B4F492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9523-BFFE-46F7-97D0-1BAF2043C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355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E8914-511A-B18B-075A-B2F8B21FA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3FA68-8E90-26FD-56A2-4621B1697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2A4544-2904-A82C-BA76-3577F173CC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0DF976-FF84-29EA-DB30-1797A87035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5E871F-12ED-3F56-36B9-97967B42F7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F57645-4BA5-14BD-1ED1-BB600FEF6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1981-5123-41C9-A4E5-F9C5086885D4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09885B-A6D6-3F43-0DB8-A2A69253B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1E2123-A18F-8EE8-D1A5-527BD8FF8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9523-BFFE-46F7-97D0-1BAF2043C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592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E5E2B-10CC-F860-997D-AFD4ADCB0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1718DB-4851-7A41-8617-1CAC77B68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1981-5123-41C9-A4E5-F9C5086885D4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62BF72-AEC5-42C4-2B46-C0254A70B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F6BB7E-D6C9-039B-4000-9C9864599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9523-BFFE-46F7-97D0-1BAF2043C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095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BCF3B1-70C9-78EB-7B6B-C21DEDC2A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1981-5123-41C9-A4E5-F9C5086885D4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426807-B3BF-DFE0-FCAD-A9B95310D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DE229-91BA-45F7-F168-C831911FD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9523-BFFE-46F7-97D0-1BAF2043C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388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732B-F348-55A2-5954-18278CECB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5299D-D25E-C368-0FCE-6FC7980BC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EF4BC2-A29E-E153-F231-DE1EFB80E2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83491-B74D-E7D5-388D-6FDBF210E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1981-5123-41C9-A4E5-F9C5086885D4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E4693F-854D-D9F5-E8F6-C32A23308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A2D895-6A89-36D0-2C73-A2C91B814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9523-BFFE-46F7-97D0-1BAF2043C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500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182B9-3CF9-D0C8-F45A-947B21970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D4B709-D5CE-63AF-0F02-424E0D90B1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5445DF-2536-1F81-3DC3-2A4BDB67A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C403EE-192D-9CAC-BB6F-638F16805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1981-5123-41C9-A4E5-F9C5086885D4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C8785-9639-5026-85FF-6FAF9ED4F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CA95AF-0AF3-A78D-D9E7-AD90AF4C9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9523-BFFE-46F7-97D0-1BAF2043C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438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7F191-E59D-D7D7-C300-33DDE8368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3E7BDD-3A22-4F9D-5B3A-7B51509505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53622-C819-CCF4-202D-92E46952A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1981-5123-41C9-A4E5-F9C5086885D4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786EB-0129-0C5B-DE3A-2D736AD7B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2FA0A-8C31-963C-223F-51F28FED6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9523-BFFE-46F7-97D0-1BAF2043C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797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49A6A4-8918-7E27-60DC-BB7CA3F924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36F87-C778-E262-58C6-8ADB320BFE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FA1D7-9D4F-D1CA-C58E-EEBA885C9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1981-5123-41C9-A4E5-F9C5086885D4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921F4-3400-4ADE-0781-56C3D339A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9C0BC-83F9-1402-4356-CA6F7EA0D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9523-BFFE-46F7-97D0-1BAF2043C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888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8B17D6-6BAD-04BC-9236-2F18B445F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2CEBB1-5948-89FA-57C8-E72421527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A972F-47A5-3D50-BD54-950899CA87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521981-5123-41C9-A4E5-F9C5086885D4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8F195-264C-C143-9A24-CC5B91756B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64DF2-997C-E41D-AA35-FA9563B34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159523-BFFE-46F7-97D0-1BAF2043C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287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E9E191-6D42-3094-8D5A-5B2F41ECE4DB}"/>
              </a:ext>
            </a:extLst>
          </p:cNvPr>
          <p:cNvSpPr/>
          <p:nvPr/>
        </p:nvSpPr>
        <p:spPr>
          <a:xfrm>
            <a:off x="8229600" y="0"/>
            <a:ext cx="3959352" cy="2560320"/>
          </a:xfrm>
          <a:prstGeom prst="rect">
            <a:avLst/>
          </a:prstGeom>
          <a:solidFill>
            <a:srgbClr val="F47B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F5E634-53C1-9D30-3B97-F0105458E29D}"/>
              </a:ext>
            </a:extLst>
          </p:cNvPr>
          <p:cNvSpPr/>
          <p:nvPr/>
        </p:nvSpPr>
        <p:spPr>
          <a:xfrm>
            <a:off x="9601200" y="0"/>
            <a:ext cx="2587752" cy="1280160"/>
          </a:xfrm>
          <a:prstGeom prst="rect">
            <a:avLst/>
          </a:prstGeom>
          <a:solidFill>
            <a:srgbClr val="1B2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47DFCD-32F3-3C52-7336-9489C488FDC4}"/>
              </a:ext>
            </a:extLst>
          </p:cNvPr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47B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6DC72F-D7C8-21C8-E088-BCD8A63B51C2}"/>
              </a:ext>
            </a:extLst>
          </p:cNvPr>
          <p:cNvSpPr txBox="1"/>
          <p:nvPr/>
        </p:nvSpPr>
        <p:spPr>
          <a:xfrm>
            <a:off x="457200" y="1097280"/>
            <a:ext cx="10972800" cy="118872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4200" b="1">
                <a:solidFill>
                  <a:srgbClr val="FFFFFF"/>
                </a:solidFill>
                <a:latin typeface="Calibri" panose="020F0502020204030204" pitchFamily="34" charset="0"/>
              </a:rPr>
              <a:t>Agentic Microservices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99B95D-BD28-E2BB-18E7-63D558EB6F9D}"/>
              </a:ext>
            </a:extLst>
          </p:cNvPr>
          <p:cNvSpPr txBox="1"/>
          <p:nvPr/>
        </p:nvSpPr>
        <p:spPr>
          <a:xfrm>
            <a:off x="457200" y="2377440"/>
            <a:ext cx="10972800" cy="6858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US" sz="2000">
                <a:solidFill>
                  <a:srgbClr val="EAF2FF"/>
                </a:solidFill>
                <a:latin typeface="Calibri" panose="020F0502020204030204" pitchFamily="34" charset="0"/>
              </a:rPr>
              <a:t>From 45-Minute Manual Incidents to 18-Minute AI-Driven Resolution</a:t>
            </a:r>
            <a:endParaRPr lang="en-IN" sz="2000">
              <a:solidFill>
                <a:srgbClr val="EAF2FF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717FA51-AC4D-D323-5103-00D678057027}"/>
              </a:ext>
            </a:extLst>
          </p:cNvPr>
          <p:cNvSpPr/>
          <p:nvPr/>
        </p:nvSpPr>
        <p:spPr>
          <a:xfrm>
            <a:off x="1371600" y="3246120"/>
            <a:ext cx="2560320" cy="640080"/>
          </a:xfrm>
          <a:prstGeom prst="roundRect">
            <a:avLst/>
          </a:prstGeom>
          <a:solidFill>
            <a:srgbClr val="F47B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02A000-0B13-5500-6721-0BE66ACF058C}"/>
              </a:ext>
            </a:extLst>
          </p:cNvPr>
          <p:cNvSpPr txBox="1"/>
          <p:nvPr/>
        </p:nvSpPr>
        <p:spPr>
          <a:xfrm>
            <a:off x="1371600" y="3246120"/>
            <a:ext cx="2560320" cy="64008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Calibri" panose="020F0502020204030204" pitchFamily="34" charset="0"/>
              </a:rPr>
              <a:t>60% faster MTTR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93FFFBC-F7BB-695A-F9E9-5CD21CCB73B6}"/>
              </a:ext>
            </a:extLst>
          </p:cNvPr>
          <p:cNvSpPr/>
          <p:nvPr/>
        </p:nvSpPr>
        <p:spPr>
          <a:xfrm>
            <a:off x="4818888" y="3246120"/>
            <a:ext cx="2560320" cy="640080"/>
          </a:xfrm>
          <a:prstGeom prst="round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AC4CC4-A527-BB6E-562E-D1C0430CEC7F}"/>
              </a:ext>
            </a:extLst>
          </p:cNvPr>
          <p:cNvSpPr txBox="1"/>
          <p:nvPr/>
        </p:nvSpPr>
        <p:spPr>
          <a:xfrm>
            <a:off x="4818888" y="3246120"/>
            <a:ext cx="2560320" cy="64008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Calibri" panose="020F0502020204030204" pitchFamily="34" charset="0"/>
              </a:rPr>
              <a:t>USD 97/month cost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9BE3CC3-AE88-FDE3-5740-A56AE1C147EB}"/>
              </a:ext>
            </a:extLst>
          </p:cNvPr>
          <p:cNvSpPr/>
          <p:nvPr/>
        </p:nvSpPr>
        <p:spPr>
          <a:xfrm>
            <a:off x="8257032" y="3246120"/>
            <a:ext cx="2560320" cy="64008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B9C7AE-1D71-722C-964B-866DC10616AC}"/>
              </a:ext>
            </a:extLst>
          </p:cNvPr>
          <p:cNvSpPr txBox="1"/>
          <p:nvPr/>
        </p:nvSpPr>
        <p:spPr>
          <a:xfrm>
            <a:off x="8257032" y="3246120"/>
            <a:ext cx="2560320" cy="64008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Calibri" panose="020F0502020204030204" pitchFamily="34" charset="0"/>
              </a:rPr>
              <a:t>23:1 ROI proven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85FB7C-CBF3-3ED3-5BA0-1729E8AB17C8}"/>
              </a:ext>
            </a:extLst>
          </p:cNvPr>
          <p:cNvSpPr txBox="1"/>
          <p:nvPr/>
        </p:nvSpPr>
        <p:spPr>
          <a:xfrm>
            <a:off x="457200" y="4114800"/>
            <a:ext cx="10972800" cy="41148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300">
                <a:solidFill>
                  <a:srgbClr val="F47B20"/>
                </a:solidFill>
                <a:latin typeface="Calibri" panose="020F0502020204030204" pitchFamily="34" charset="0"/>
              </a:rPr>
              <a:t>Cloud-Native  |  ECS Fargate  |  Spring Boot  |  LangGraph  |  GPT-4.1-mini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5A1347-2B52-589C-26EE-6C5ED9797347}"/>
              </a:ext>
            </a:extLst>
          </p:cNvPr>
          <p:cNvSpPr txBox="1"/>
          <p:nvPr/>
        </p:nvSpPr>
        <p:spPr>
          <a:xfrm>
            <a:off x="457200" y="6263640"/>
            <a:ext cx="10972800" cy="34747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100">
                <a:solidFill>
                  <a:srgbClr val="FFFFFF"/>
                </a:solidFill>
                <a:latin typeface="Calibri" panose="020F0502020204030204" pitchFamily="34" charset="0"/>
              </a:rPr>
              <a:t>Confidential | Engineering Excellence | 2026</a:t>
            </a:r>
          </a:p>
        </p:txBody>
      </p:sp>
    </p:spTree>
    <p:extLst>
      <p:ext uri="{BB962C8B-B14F-4D97-AF65-F5344CB8AC3E}">
        <p14:creationId xmlns:p14="http://schemas.microsoft.com/office/powerpoint/2010/main" val="3653635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B6EFD8-4A3E-F33B-5A18-295801F0BF25}"/>
              </a:ext>
            </a:extLst>
          </p:cNvPr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3400" b="1">
                <a:solidFill>
                  <a:srgbClr val="1B2A4A"/>
                </a:solidFill>
                <a:latin typeface="Calibri" panose="020F0502020204030204" pitchFamily="34" charset="0"/>
              </a:rPr>
              <a:t>The Problem We Solved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A751CE-3D3B-A777-DF27-2865CDC90E33}"/>
              </a:ext>
            </a:extLst>
          </p:cNvPr>
          <p:cNvSpPr/>
          <p:nvPr/>
        </p:nvSpPr>
        <p:spPr>
          <a:xfrm>
            <a:off x="365760" y="868680"/>
            <a:ext cx="11430000" cy="54864"/>
          </a:xfrm>
          <a:prstGeom prst="rect">
            <a:avLst/>
          </a:prstGeom>
          <a:solidFill>
            <a:srgbClr val="1B2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BB66AF-2E43-7CA5-F6E4-03A2AB96C8E3}"/>
              </a:ext>
            </a:extLst>
          </p:cNvPr>
          <p:cNvSpPr/>
          <p:nvPr/>
        </p:nvSpPr>
        <p:spPr>
          <a:xfrm>
            <a:off x="320040" y="1051560"/>
            <a:ext cx="5577840" cy="54864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3DC570-9289-DAA9-AFC7-AD44AEEF6D28}"/>
              </a:ext>
            </a:extLst>
          </p:cNvPr>
          <p:cNvSpPr txBox="1"/>
          <p:nvPr/>
        </p:nvSpPr>
        <p:spPr>
          <a:xfrm>
            <a:off x="320040" y="1051560"/>
            <a:ext cx="5577840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Calibri" panose="020F0502020204030204" pitchFamily="34" charset="0"/>
              </a:rPr>
              <a:t>BEFORE  -  Legacy Pain Points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B1CAA7-8D19-7DB1-21CE-E4744537768C}"/>
              </a:ext>
            </a:extLst>
          </p:cNvPr>
          <p:cNvSpPr/>
          <p:nvPr/>
        </p:nvSpPr>
        <p:spPr>
          <a:xfrm>
            <a:off x="320040" y="1737360"/>
            <a:ext cx="5577840" cy="914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63DEDE-6FA7-C3CC-F92A-D61804C549E1}"/>
              </a:ext>
            </a:extLst>
          </p:cNvPr>
          <p:cNvSpPr/>
          <p:nvPr/>
        </p:nvSpPr>
        <p:spPr>
          <a:xfrm>
            <a:off x="320040" y="1737360"/>
            <a:ext cx="164592" cy="9144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91ECEF-FEC3-BFC7-76EC-A97B1D2039ED}"/>
              </a:ext>
            </a:extLst>
          </p:cNvPr>
          <p:cNvSpPr txBox="1"/>
          <p:nvPr/>
        </p:nvSpPr>
        <p:spPr>
          <a:xfrm>
            <a:off x="594360" y="1783080"/>
            <a:ext cx="5120640" cy="41148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600" b="1">
                <a:solidFill>
                  <a:srgbClr val="C0392B"/>
                </a:solidFill>
                <a:latin typeface="Calibri" panose="020F0502020204030204" pitchFamily="34" charset="0"/>
              </a:rPr>
              <a:t>45 min MTTR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E6950C-17AC-B0C7-ECDD-0DBDE91345EC}"/>
              </a:ext>
            </a:extLst>
          </p:cNvPr>
          <p:cNvSpPr txBox="1"/>
          <p:nvPr/>
        </p:nvSpPr>
        <p:spPr>
          <a:xfrm>
            <a:off x="594360" y="2221992"/>
            <a:ext cx="5120640" cy="34747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100">
                <a:solidFill>
                  <a:srgbClr val="34495E"/>
                </a:solidFill>
                <a:latin typeface="Calibri" panose="020F0502020204030204" pitchFamily="34" charset="0"/>
              </a:rPr>
              <a:t>avg incident resolution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2F2CBC-1CED-041C-5A5B-2890FD026CC2}"/>
              </a:ext>
            </a:extLst>
          </p:cNvPr>
          <p:cNvSpPr/>
          <p:nvPr/>
        </p:nvSpPr>
        <p:spPr>
          <a:xfrm>
            <a:off x="320040" y="2788920"/>
            <a:ext cx="5577840" cy="914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493A26-EC3B-A78E-176D-09ED4EC7421D}"/>
              </a:ext>
            </a:extLst>
          </p:cNvPr>
          <p:cNvSpPr/>
          <p:nvPr/>
        </p:nvSpPr>
        <p:spPr>
          <a:xfrm>
            <a:off x="320040" y="2788920"/>
            <a:ext cx="164592" cy="9144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597436-F53F-038E-3D96-523D1D27F844}"/>
              </a:ext>
            </a:extLst>
          </p:cNvPr>
          <p:cNvSpPr txBox="1"/>
          <p:nvPr/>
        </p:nvSpPr>
        <p:spPr>
          <a:xfrm>
            <a:off x="594360" y="2834640"/>
            <a:ext cx="5120640" cy="41148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600" b="1">
                <a:solidFill>
                  <a:srgbClr val="C0392B"/>
                </a:solidFill>
                <a:latin typeface="Calibri" panose="020F0502020204030204" pitchFamily="34" charset="0"/>
              </a:rPr>
              <a:t>Manual log triage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952545-6BB5-8EE9-08DC-4A23D9362123}"/>
              </a:ext>
            </a:extLst>
          </p:cNvPr>
          <p:cNvSpPr txBox="1"/>
          <p:nvPr/>
        </p:nvSpPr>
        <p:spPr>
          <a:xfrm>
            <a:off x="594360" y="3273552"/>
            <a:ext cx="5120640" cy="34747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100">
                <a:solidFill>
                  <a:srgbClr val="34495E"/>
                </a:solidFill>
                <a:latin typeface="Calibri" panose="020F0502020204030204" pitchFamily="34" charset="0"/>
              </a:rPr>
              <a:t>engineers grep logs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6909CC-3B5D-B2D0-4F93-72D0173034B1}"/>
              </a:ext>
            </a:extLst>
          </p:cNvPr>
          <p:cNvSpPr/>
          <p:nvPr/>
        </p:nvSpPr>
        <p:spPr>
          <a:xfrm>
            <a:off x="320040" y="3840480"/>
            <a:ext cx="5577840" cy="914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946C9F-0238-82AB-93B2-9A316AD44170}"/>
              </a:ext>
            </a:extLst>
          </p:cNvPr>
          <p:cNvSpPr/>
          <p:nvPr/>
        </p:nvSpPr>
        <p:spPr>
          <a:xfrm>
            <a:off x="320040" y="3840480"/>
            <a:ext cx="164592" cy="9144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90D29A-EBB0-203F-5BE3-8A0D9602846A}"/>
              </a:ext>
            </a:extLst>
          </p:cNvPr>
          <p:cNvSpPr txBox="1"/>
          <p:nvPr/>
        </p:nvSpPr>
        <p:spPr>
          <a:xfrm>
            <a:off x="594360" y="3886200"/>
            <a:ext cx="5120640" cy="41148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600" b="1">
                <a:solidFill>
                  <a:srgbClr val="C0392B"/>
                </a:solidFill>
                <a:latin typeface="Calibri" panose="020F0502020204030204" pitchFamily="34" charset="0"/>
              </a:rPr>
              <a:t>No auto-scaling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D87314-A028-5B7A-9DBA-0B1D3C2C332C}"/>
              </a:ext>
            </a:extLst>
          </p:cNvPr>
          <p:cNvSpPr txBox="1"/>
          <p:nvPr/>
        </p:nvSpPr>
        <p:spPr>
          <a:xfrm>
            <a:off x="594360" y="4325112"/>
            <a:ext cx="5120640" cy="34747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100">
                <a:solidFill>
                  <a:srgbClr val="34495E"/>
                </a:solidFill>
                <a:latin typeface="Calibri" panose="020F0502020204030204" pitchFamily="34" charset="0"/>
              </a:rPr>
              <a:t>monolith crashes under load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C75D70-A76A-0A82-2C77-F0882003886D}"/>
              </a:ext>
            </a:extLst>
          </p:cNvPr>
          <p:cNvSpPr/>
          <p:nvPr/>
        </p:nvSpPr>
        <p:spPr>
          <a:xfrm>
            <a:off x="320040" y="4892040"/>
            <a:ext cx="5577840" cy="914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0FB38C-8AD0-BA77-2A40-AEB24A42E9CE}"/>
              </a:ext>
            </a:extLst>
          </p:cNvPr>
          <p:cNvSpPr/>
          <p:nvPr/>
        </p:nvSpPr>
        <p:spPr>
          <a:xfrm>
            <a:off x="320040" y="4892040"/>
            <a:ext cx="164592" cy="9144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F9B5C8-D278-F969-6326-95299DDDB9E7}"/>
              </a:ext>
            </a:extLst>
          </p:cNvPr>
          <p:cNvSpPr txBox="1"/>
          <p:nvPr/>
        </p:nvSpPr>
        <p:spPr>
          <a:xfrm>
            <a:off x="594360" y="4937760"/>
            <a:ext cx="5120640" cy="41148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600" b="1">
                <a:solidFill>
                  <a:srgbClr val="C0392B"/>
                </a:solidFill>
                <a:latin typeface="Calibri" panose="020F0502020204030204" pitchFamily="34" charset="0"/>
              </a:rPr>
              <a:t>Zero observability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9FEBE5-A61C-D639-1795-D4EEE81684D5}"/>
              </a:ext>
            </a:extLst>
          </p:cNvPr>
          <p:cNvSpPr txBox="1"/>
          <p:nvPr/>
        </p:nvSpPr>
        <p:spPr>
          <a:xfrm>
            <a:off x="594360" y="5376672"/>
            <a:ext cx="5120640" cy="34747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100">
                <a:solidFill>
                  <a:srgbClr val="34495E"/>
                </a:solidFill>
                <a:latin typeface="Calibri" panose="020F0502020204030204" pitchFamily="34" charset="0"/>
              </a:rPr>
              <a:t>no metrics, no tracing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4931850-F53C-10EA-EF02-E4554B33BED6}"/>
              </a:ext>
            </a:extLst>
          </p:cNvPr>
          <p:cNvSpPr/>
          <p:nvPr/>
        </p:nvSpPr>
        <p:spPr>
          <a:xfrm>
            <a:off x="6291072" y="1051560"/>
            <a:ext cx="5577840" cy="54864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975AF5-B5D8-AFA9-6A04-6C3970AD7A5D}"/>
              </a:ext>
            </a:extLst>
          </p:cNvPr>
          <p:cNvSpPr txBox="1"/>
          <p:nvPr/>
        </p:nvSpPr>
        <p:spPr>
          <a:xfrm>
            <a:off x="6291072" y="1051560"/>
            <a:ext cx="5577840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Calibri" panose="020F0502020204030204" pitchFamily="34" charset="0"/>
              </a:rPr>
              <a:t>AFTER  -  Agentic AI Solution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E28CE5-02A6-0FEE-FCAA-1EEA28F55805}"/>
              </a:ext>
            </a:extLst>
          </p:cNvPr>
          <p:cNvSpPr/>
          <p:nvPr/>
        </p:nvSpPr>
        <p:spPr>
          <a:xfrm>
            <a:off x="6291072" y="1737360"/>
            <a:ext cx="5577840" cy="914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E37086-E196-16F6-3978-EBB65B5F5DF8}"/>
              </a:ext>
            </a:extLst>
          </p:cNvPr>
          <p:cNvSpPr/>
          <p:nvPr/>
        </p:nvSpPr>
        <p:spPr>
          <a:xfrm>
            <a:off x="6291072" y="1737360"/>
            <a:ext cx="164592" cy="9144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E5CAB7-E7B3-5B58-10A5-3957CE5BD7A5}"/>
              </a:ext>
            </a:extLst>
          </p:cNvPr>
          <p:cNvSpPr txBox="1"/>
          <p:nvPr/>
        </p:nvSpPr>
        <p:spPr>
          <a:xfrm>
            <a:off x="6565392" y="1783080"/>
            <a:ext cx="5120640" cy="41148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600" b="1">
                <a:solidFill>
                  <a:srgbClr val="27AE60"/>
                </a:solidFill>
                <a:latin typeface="Calibri" panose="020F0502020204030204" pitchFamily="34" charset="0"/>
              </a:rPr>
              <a:t>18 min MTTR (-60%)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35115D-C553-5FFC-74B1-62D1E4AADA9A}"/>
              </a:ext>
            </a:extLst>
          </p:cNvPr>
          <p:cNvSpPr txBox="1"/>
          <p:nvPr/>
        </p:nvSpPr>
        <p:spPr>
          <a:xfrm>
            <a:off x="6565392" y="2221992"/>
            <a:ext cx="5120640" cy="34747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100">
                <a:solidFill>
                  <a:srgbClr val="34495E"/>
                </a:solidFill>
                <a:latin typeface="Calibri" panose="020F0502020204030204" pitchFamily="34" charset="0"/>
              </a:rPr>
              <a:t>measured on live platform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26A9F5D-DB82-5286-19D6-225FC0823AE7}"/>
              </a:ext>
            </a:extLst>
          </p:cNvPr>
          <p:cNvSpPr/>
          <p:nvPr/>
        </p:nvSpPr>
        <p:spPr>
          <a:xfrm>
            <a:off x="6291072" y="2788920"/>
            <a:ext cx="5577840" cy="914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2B5CDA5-1C3C-B887-395B-AA433DAAE464}"/>
              </a:ext>
            </a:extLst>
          </p:cNvPr>
          <p:cNvSpPr/>
          <p:nvPr/>
        </p:nvSpPr>
        <p:spPr>
          <a:xfrm>
            <a:off x="6291072" y="2788920"/>
            <a:ext cx="164592" cy="9144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665EF9-3B12-3DBF-6CD9-4F28D50E7B3F}"/>
              </a:ext>
            </a:extLst>
          </p:cNvPr>
          <p:cNvSpPr txBox="1"/>
          <p:nvPr/>
        </p:nvSpPr>
        <p:spPr>
          <a:xfrm>
            <a:off x="6565392" y="2834640"/>
            <a:ext cx="5120640" cy="41148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600" b="1">
                <a:solidFill>
                  <a:srgbClr val="27AE60"/>
                </a:solidFill>
                <a:latin typeface="Calibri" panose="020F0502020204030204" pitchFamily="34" charset="0"/>
              </a:rPr>
              <a:t>AI investigates auto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39C49DA-2023-4D86-F986-40C6A9022138}"/>
              </a:ext>
            </a:extLst>
          </p:cNvPr>
          <p:cNvSpPr txBox="1"/>
          <p:nvPr/>
        </p:nvSpPr>
        <p:spPr>
          <a:xfrm>
            <a:off x="6565392" y="3273552"/>
            <a:ext cx="5120640" cy="34747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100">
                <a:solidFill>
                  <a:srgbClr val="34495E"/>
                </a:solidFill>
                <a:latin typeface="Calibri" panose="020F0502020204030204" pitchFamily="34" charset="0"/>
              </a:rPr>
              <a:t>LangGraph agent, no toil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731C89F-7435-54B3-3D78-C3B8C6D8DC93}"/>
              </a:ext>
            </a:extLst>
          </p:cNvPr>
          <p:cNvSpPr/>
          <p:nvPr/>
        </p:nvSpPr>
        <p:spPr>
          <a:xfrm>
            <a:off x="6291072" y="3840480"/>
            <a:ext cx="5577840" cy="914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E694DC5-FBF9-A2B5-8F8C-91C52347C80D}"/>
              </a:ext>
            </a:extLst>
          </p:cNvPr>
          <p:cNvSpPr/>
          <p:nvPr/>
        </p:nvSpPr>
        <p:spPr>
          <a:xfrm>
            <a:off x="6291072" y="3840480"/>
            <a:ext cx="164592" cy="9144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8A3D4A-04F4-F7C3-4678-6B2E45635450}"/>
              </a:ext>
            </a:extLst>
          </p:cNvPr>
          <p:cNvSpPr txBox="1"/>
          <p:nvPr/>
        </p:nvSpPr>
        <p:spPr>
          <a:xfrm>
            <a:off x="6565392" y="3886200"/>
            <a:ext cx="5120640" cy="41148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600" b="1">
                <a:solidFill>
                  <a:srgbClr val="27AE60"/>
                </a:solidFill>
                <a:latin typeface="Calibri" panose="020F0502020204030204" pitchFamily="34" charset="0"/>
              </a:rPr>
              <a:t>ECS Fargate scales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3F738C7-DD0F-F668-2088-711801F3D61D}"/>
              </a:ext>
            </a:extLst>
          </p:cNvPr>
          <p:cNvSpPr txBox="1"/>
          <p:nvPr/>
        </p:nvSpPr>
        <p:spPr>
          <a:xfrm>
            <a:off x="6565392" y="4325112"/>
            <a:ext cx="5120640" cy="34747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100">
                <a:solidFill>
                  <a:srgbClr val="34495E"/>
                </a:solidFill>
                <a:latin typeface="Calibri" panose="020F0502020204030204" pitchFamily="34" charset="0"/>
              </a:rPr>
              <a:t>CPU-triggered auto-scale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0D2E384-886E-9280-7CDE-680AA7AE1297}"/>
              </a:ext>
            </a:extLst>
          </p:cNvPr>
          <p:cNvSpPr/>
          <p:nvPr/>
        </p:nvSpPr>
        <p:spPr>
          <a:xfrm>
            <a:off x="6291072" y="4892040"/>
            <a:ext cx="5577840" cy="914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F4FC5DD-6860-8900-CA91-B47DE1AE6C02}"/>
              </a:ext>
            </a:extLst>
          </p:cNvPr>
          <p:cNvSpPr/>
          <p:nvPr/>
        </p:nvSpPr>
        <p:spPr>
          <a:xfrm>
            <a:off x="6291072" y="4892040"/>
            <a:ext cx="164592" cy="9144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550C9C1-7F58-E713-051D-AA72B9917F74}"/>
              </a:ext>
            </a:extLst>
          </p:cNvPr>
          <p:cNvSpPr txBox="1"/>
          <p:nvPr/>
        </p:nvSpPr>
        <p:spPr>
          <a:xfrm>
            <a:off x="6565392" y="4937760"/>
            <a:ext cx="5120640" cy="41148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600" b="1">
                <a:solidFill>
                  <a:srgbClr val="27AE60"/>
                </a:solidFill>
                <a:latin typeface="Calibri" panose="020F0502020204030204" pitchFamily="34" charset="0"/>
              </a:rPr>
              <a:t>Prometheus+Loki+Grafana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0820FF-9D62-EEC8-DA90-BCACB8B87166}"/>
              </a:ext>
            </a:extLst>
          </p:cNvPr>
          <p:cNvSpPr txBox="1"/>
          <p:nvPr/>
        </p:nvSpPr>
        <p:spPr>
          <a:xfrm>
            <a:off x="6565392" y="5376672"/>
            <a:ext cx="5120640" cy="34747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100">
                <a:solidFill>
                  <a:srgbClr val="34495E"/>
                </a:solidFill>
                <a:latin typeface="Calibri" panose="020F0502020204030204" pitchFamily="34" charset="0"/>
              </a:rPr>
              <a:t>full observability stack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42CF85-F951-CC9A-BEA6-116D741CA7E8}"/>
              </a:ext>
            </a:extLst>
          </p:cNvPr>
          <p:cNvSpPr/>
          <p:nvPr/>
        </p:nvSpPr>
        <p:spPr>
          <a:xfrm>
            <a:off x="320040" y="6080760"/>
            <a:ext cx="11548872" cy="594360"/>
          </a:xfrm>
          <a:prstGeom prst="rect">
            <a:avLst/>
          </a:prstGeom>
          <a:solidFill>
            <a:srgbClr val="F47B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9876557-CCF5-D70C-AEA0-DE2F93D949ED}"/>
              </a:ext>
            </a:extLst>
          </p:cNvPr>
          <p:cNvSpPr txBox="1"/>
          <p:nvPr/>
        </p:nvSpPr>
        <p:spPr>
          <a:xfrm>
            <a:off x="320040" y="6080760"/>
            <a:ext cx="11548872" cy="59436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Total infrastructure cost: USD 97/month  |  Engineer time saved: USD 2,250/month  |  ROI: 23:1</a:t>
            </a:r>
            <a:endParaRPr lang="en-IN" sz="13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5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0081B2-57D3-3823-7601-615EC0156EE3}"/>
              </a:ext>
            </a:extLst>
          </p:cNvPr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sz="3200" b="1">
                <a:solidFill>
                  <a:srgbClr val="1B2A4A"/>
                </a:solidFill>
                <a:latin typeface="Calibri" panose="020F0502020204030204" pitchFamily="34" charset="0"/>
              </a:rPr>
              <a:t>How the AI Agent Works</a:t>
            </a:r>
            <a:endParaRPr lang="en-IN" sz="3200" b="1">
              <a:solidFill>
                <a:srgbClr val="1B2A4A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54BD6D-D51D-AA09-D8F6-6858D1D8225C}"/>
              </a:ext>
            </a:extLst>
          </p:cNvPr>
          <p:cNvSpPr txBox="1"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sz="1300" i="1">
                <a:solidFill>
                  <a:srgbClr val="34495E"/>
                </a:solidFill>
                <a:latin typeface="Calibri" panose="020F0502020204030204" pitchFamily="34" charset="0"/>
              </a:rPr>
              <a:t>A deterministic, multi-step investigation workflow - one LLM call per incident, under 5 seconds end-to-end</a:t>
            </a:r>
            <a:endParaRPr lang="en-IN" sz="1300" i="1">
              <a:solidFill>
                <a:srgbClr val="34495E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A1F059F-A876-9B80-1574-746FD1CCA2BD}"/>
              </a:ext>
            </a:extLst>
          </p:cNvPr>
          <p:cNvSpPr/>
          <p:nvPr/>
        </p:nvSpPr>
        <p:spPr>
          <a:xfrm>
            <a:off x="274320" y="1325880"/>
            <a:ext cx="2103120" cy="2560320"/>
          </a:xfrm>
          <a:prstGeom prst="round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FB979F-9E44-1DA6-739F-B77795B25D07}"/>
              </a:ext>
            </a:extLst>
          </p:cNvPr>
          <p:cNvSpPr txBox="1"/>
          <p:nvPr/>
        </p:nvSpPr>
        <p:spPr>
          <a:xfrm>
            <a:off x="274320" y="1435608"/>
            <a:ext cx="2103120" cy="50292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28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F6C3D1-C27E-8F1C-65F3-A083E3FEB16C}"/>
              </a:ext>
            </a:extLst>
          </p:cNvPr>
          <p:cNvSpPr txBox="1"/>
          <p:nvPr/>
        </p:nvSpPr>
        <p:spPr>
          <a:xfrm>
            <a:off x="274320" y="1984248"/>
            <a:ext cx="2103120" cy="50292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Calibri" panose="020F0502020204030204" pitchFamily="34" charset="0"/>
              </a:rPr>
              <a:t>Incident Detected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85B5BA-2B8F-9333-A709-122477DB245D}"/>
              </a:ext>
            </a:extLst>
          </p:cNvPr>
          <p:cNvSpPr txBox="1"/>
          <p:nvPr/>
        </p:nvSpPr>
        <p:spPr>
          <a:xfrm>
            <a:off x="274320" y="2560320"/>
            <a:ext cx="2103120" cy="118872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US" sz="1000">
                <a:solidFill>
                  <a:srgbClr val="FFFFFF"/>
                </a:solidFill>
                <a:latin typeface="Calibri" panose="020F0502020204030204" pitchFamily="34" charset="0"/>
              </a:rPr>
              <a:t>Engineer or alert triggers chat UI</a:t>
            </a:r>
            <a:endParaRPr lang="en-IN" sz="10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A504C0-5C3E-E7EA-55D3-3A81F24AF6F4}"/>
              </a:ext>
            </a:extLst>
          </p:cNvPr>
          <p:cNvSpPr/>
          <p:nvPr/>
        </p:nvSpPr>
        <p:spPr>
          <a:xfrm>
            <a:off x="2395728" y="2331720"/>
            <a:ext cx="210312" cy="502920"/>
          </a:xfrm>
          <a:prstGeom prst="rect">
            <a:avLst/>
          </a:prstGeom>
          <a:solidFill>
            <a:srgbClr val="F47B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CBEBB9-8E9C-22EA-B105-FE7605C552CC}"/>
              </a:ext>
            </a:extLst>
          </p:cNvPr>
          <p:cNvSpPr txBox="1"/>
          <p:nvPr/>
        </p:nvSpPr>
        <p:spPr>
          <a:xfrm>
            <a:off x="2395728" y="2331720"/>
            <a:ext cx="210312" cy="50292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Calibri" panose="020F0502020204030204" pitchFamily="34" charset="0"/>
              </a:rPr>
              <a:t>&gt;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A5AE551-6E8B-EBF1-8171-424CFA64DE6E}"/>
              </a:ext>
            </a:extLst>
          </p:cNvPr>
          <p:cNvSpPr/>
          <p:nvPr/>
        </p:nvSpPr>
        <p:spPr>
          <a:xfrm>
            <a:off x="2606040" y="1325880"/>
            <a:ext cx="2103120" cy="2560320"/>
          </a:xfrm>
          <a:prstGeom prst="roundRect">
            <a:avLst/>
          </a:prstGeom>
          <a:solidFill>
            <a:srgbClr val="F47B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45B6BF-F748-81C8-38B6-9D32BCFE45CC}"/>
              </a:ext>
            </a:extLst>
          </p:cNvPr>
          <p:cNvSpPr txBox="1"/>
          <p:nvPr/>
        </p:nvSpPr>
        <p:spPr>
          <a:xfrm>
            <a:off x="2606040" y="1435608"/>
            <a:ext cx="2103120" cy="50292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28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5E6368-1E61-1537-3453-CBDC4191EFE3}"/>
              </a:ext>
            </a:extLst>
          </p:cNvPr>
          <p:cNvSpPr txBox="1"/>
          <p:nvPr/>
        </p:nvSpPr>
        <p:spPr>
          <a:xfrm>
            <a:off x="2606040" y="1984248"/>
            <a:ext cx="2103120" cy="50292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Calibri" panose="020F0502020204030204" pitchFamily="34" charset="0"/>
              </a:rPr>
              <a:t>LangGraph Plans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DEC243-C583-87A2-9F60-F88A6F9F7488}"/>
              </a:ext>
            </a:extLst>
          </p:cNvPr>
          <p:cNvSpPr txBox="1"/>
          <p:nvPr/>
        </p:nvSpPr>
        <p:spPr>
          <a:xfrm>
            <a:off x="2606040" y="2560320"/>
            <a:ext cx="2103120" cy="118872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US" sz="1000">
                <a:solidFill>
                  <a:srgbClr val="FFFFFF"/>
                </a:solidFill>
                <a:latin typeface="Calibri" panose="020F0502020204030204" pitchFamily="34" charset="0"/>
              </a:rPr>
              <a:t>StateGraph classifies and plans investigation</a:t>
            </a:r>
            <a:endParaRPr lang="en-IN" sz="10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059127-4C97-B842-8BC3-7033E923D127}"/>
              </a:ext>
            </a:extLst>
          </p:cNvPr>
          <p:cNvSpPr/>
          <p:nvPr/>
        </p:nvSpPr>
        <p:spPr>
          <a:xfrm>
            <a:off x="4727448" y="2331720"/>
            <a:ext cx="210312" cy="502920"/>
          </a:xfrm>
          <a:prstGeom prst="rect">
            <a:avLst/>
          </a:prstGeom>
          <a:solidFill>
            <a:srgbClr val="F47B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247852-0AA5-F123-554D-FEE227FADF58}"/>
              </a:ext>
            </a:extLst>
          </p:cNvPr>
          <p:cNvSpPr txBox="1"/>
          <p:nvPr/>
        </p:nvSpPr>
        <p:spPr>
          <a:xfrm>
            <a:off x="4727448" y="2331720"/>
            <a:ext cx="210312" cy="50292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Calibri" panose="020F0502020204030204" pitchFamily="34" charset="0"/>
              </a:rPr>
              <a:t>&gt;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87C6661-D917-0D99-BE15-C3E3B1284F77}"/>
              </a:ext>
            </a:extLst>
          </p:cNvPr>
          <p:cNvSpPr/>
          <p:nvPr/>
        </p:nvSpPr>
        <p:spPr>
          <a:xfrm>
            <a:off x="4937760" y="1325880"/>
            <a:ext cx="2103120" cy="2560320"/>
          </a:xfrm>
          <a:prstGeom prst="roundRect">
            <a:avLst/>
          </a:prstGeom>
          <a:solidFill>
            <a:srgbClr val="1B2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F92BB0-B4D8-95AE-491A-E5D2FBC76768}"/>
              </a:ext>
            </a:extLst>
          </p:cNvPr>
          <p:cNvSpPr txBox="1"/>
          <p:nvPr/>
        </p:nvSpPr>
        <p:spPr>
          <a:xfrm>
            <a:off x="4937760" y="1435608"/>
            <a:ext cx="2103120" cy="50292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2800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33FB25-82A0-3E83-8A1A-08A389ADE6FB}"/>
              </a:ext>
            </a:extLst>
          </p:cNvPr>
          <p:cNvSpPr txBox="1"/>
          <p:nvPr/>
        </p:nvSpPr>
        <p:spPr>
          <a:xfrm>
            <a:off x="4937760" y="1984248"/>
            <a:ext cx="2103120" cy="50292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Calibri" panose="020F0502020204030204" pitchFamily="34" charset="0"/>
              </a:rPr>
              <a:t>MCP Fetches Data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897FBE-6F38-6D9C-8504-DF1F89072484}"/>
              </a:ext>
            </a:extLst>
          </p:cNvPr>
          <p:cNvSpPr txBox="1"/>
          <p:nvPr/>
        </p:nvSpPr>
        <p:spPr>
          <a:xfrm>
            <a:off x="4937760" y="2560320"/>
            <a:ext cx="2103120" cy="118872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000">
                <a:solidFill>
                  <a:srgbClr val="FFFFFF"/>
                </a:solidFill>
                <a:latin typeface="Calibri" panose="020F0502020204030204" pitchFamily="34" charset="0"/>
              </a:rPr>
              <a:t>Prometheus metrics + Loki logs via Spring AI tools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2E9511-CF4B-1857-49FF-41137B45A326}"/>
              </a:ext>
            </a:extLst>
          </p:cNvPr>
          <p:cNvSpPr/>
          <p:nvPr/>
        </p:nvSpPr>
        <p:spPr>
          <a:xfrm>
            <a:off x="7059168" y="2331720"/>
            <a:ext cx="210312" cy="502920"/>
          </a:xfrm>
          <a:prstGeom prst="rect">
            <a:avLst/>
          </a:prstGeom>
          <a:solidFill>
            <a:srgbClr val="F47B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8C4621-B439-79CE-FEA6-5E751C467A53}"/>
              </a:ext>
            </a:extLst>
          </p:cNvPr>
          <p:cNvSpPr txBox="1"/>
          <p:nvPr/>
        </p:nvSpPr>
        <p:spPr>
          <a:xfrm>
            <a:off x="7059168" y="2331720"/>
            <a:ext cx="210312" cy="50292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Calibri" panose="020F0502020204030204" pitchFamily="34" charset="0"/>
              </a:rPr>
              <a:t>&gt;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1D8BCF1-E1D8-A5ED-2725-755D0661BFC2}"/>
              </a:ext>
            </a:extLst>
          </p:cNvPr>
          <p:cNvSpPr/>
          <p:nvPr/>
        </p:nvSpPr>
        <p:spPr>
          <a:xfrm>
            <a:off x="7269480" y="1325880"/>
            <a:ext cx="2103120" cy="256032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32063B-34EA-A599-D2A1-61B9D4B67A42}"/>
              </a:ext>
            </a:extLst>
          </p:cNvPr>
          <p:cNvSpPr txBox="1"/>
          <p:nvPr/>
        </p:nvSpPr>
        <p:spPr>
          <a:xfrm>
            <a:off x="7269480" y="1435608"/>
            <a:ext cx="2103120" cy="50292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2800" b="1">
                <a:solidFill>
                  <a:srgbClr val="FFFFFF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1F48EE-26B9-486C-E9AE-81CECC00D6E9}"/>
              </a:ext>
            </a:extLst>
          </p:cNvPr>
          <p:cNvSpPr txBox="1"/>
          <p:nvPr/>
        </p:nvSpPr>
        <p:spPr>
          <a:xfrm>
            <a:off x="7269480" y="1984248"/>
            <a:ext cx="2103120" cy="50292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Calibri" panose="020F0502020204030204" pitchFamily="34" charset="0"/>
              </a:rPr>
              <a:t>AI Correlates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FB5E34-6DB7-0FD8-8B54-8F9A89B58CEC}"/>
              </a:ext>
            </a:extLst>
          </p:cNvPr>
          <p:cNvSpPr txBox="1"/>
          <p:nvPr/>
        </p:nvSpPr>
        <p:spPr>
          <a:xfrm>
            <a:off x="7269480" y="2560320"/>
            <a:ext cx="2103120" cy="118872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US" sz="1000">
                <a:solidFill>
                  <a:srgbClr val="FFFFFF"/>
                </a:solidFill>
                <a:latin typeface="Calibri" panose="020F0502020204030204" pitchFamily="34" charset="0"/>
              </a:rPr>
              <a:t>CorrelationEngine + GPT-4.1-mini reasons over data</a:t>
            </a:r>
            <a:endParaRPr lang="en-IN" sz="10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5AA9C1B-84DF-0A08-0361-D7FED07AC2E5}"/>
              </a:ext>
            </a:extLst>
          </p:cNvPr>
          <p:cNvSpPr/>
          <p:nvPr/>
        </p:nvSpPr>
        <p:spPr>
          <a:xfrm>
            <a:off x="9390888" y="2331720"/>
            <a:ext cx="210312" cy="502920"/>
          </a:xfrm>
          <a:prstGeom prst="rect">
            <a:avLst/>
          </a:prstGeom>
          <a:solidFill>
            <a:srgbClr val="F47B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47D496-2962-367F-5540-6A5530732C71}"/>
              </a:ext>
            </a:extLst>
          </p:cNvPr>
          <p:cNvSpPr txBox="1"/>
          <p:nvPr/>
        </p:nvSpPr>
        <p:spPr>
          <a:xfrm>
            <a:off x="9390888" y="2331720"/>
            <a:ext cx="210312" cy="50292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Calibri" panose="020F0502020204030204" pitchFamily="34" charset="0"/>
              </a:rPr>
              <a:t>&gt;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256BA77-AB5B-EA37-12C1-BF12639F482C}"/>
              </a:ext>
            </a:extLst>
          </p:cNvPr>
          <p:cNvSpPr/>
          <p:nvPr/>
        </p:nvSpPr>
        <p:spPr>
          <a:xfrm>
            <a:off x="9601200" y="1325880"/>
            <a:ext cx="2103120" cy="2560320"/>
          </a:xfrm>
          <a:prstGeom prst="roundRect">
            <a:avLst/>
          </a:prstGeom>
          <a:solidFill>
            <a:srgbClr val="1E84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C40ED5-D012-E9AB-6AE8-19664C0AB812}"/>
              </a:ext>
            </a:extLst>
          </p:cNvPr>
          <p:cNvSpPr txBox="1"/>
          <p:nvPr/>
        </p:nvSpPr>
        <p:spPr>
          <a:xfrm>
            <a:off x="9601200" y="1435608"/>
            <a:ext cx="2103120" cy="50292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2800" b="1">
                <a:solidFill>
                  <a:srgbClr val="FFFFFF"/>
                </a:solidFill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ACD5A6-7D75-08DF-BF4D-4FC19F1DF3D1}"/>
              </a:ext>
            </a:extLst>
          </p:cNvPr>
          <p:cNvSpPr txBox="1"/>
          <p:nvPr/>
        </p:nvSpPr>
        <p:spPr>
          <a:xfrm>
            <a:off x="9601200" y="1984248"/>
            <a:ext cx="2103120" cy="50292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Calibri" panose="020F0502020204030204" pitchFamily="34" charset="0"/>
              </a:rPr>
              <a:t>Root Cause Delivered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A9AE2B-670D-04E1-320F-76391251CF07}"/>
              </a:ext>
            </a:extLst>
          </p:cNvPr>
          <p:cNvSpPr txBox="1"/>
          <p:nvPr/>
        </p:nvSpPr>
        <p:spPr>
          <a:xfrm>
            <a:off x="9601200" y="2560320"/>
            <a:ext cx="2103120" cy="118872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US" sz="1000">
                <a:solidFill>
                  <a:srgbClr val="FFFFFF"/>
                </a:solidFill>
                <a:latin typeface="Calibri" panose="020F0502020204030204" pitchFamily="34" charset="0"/>
              </a:rPr>
              <a:t>Human summary + Grafana links in &lt;5 seconds</a:t>
            </a:r>
            <a:endParaRPr lang="en-IN" sz="10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77491B3-5CFE-9638-3353-C645CB07CD58}"/>
              </a:ext>
            </a:extLst>
          </p:cNvPr>
          <p:cNvSpPr/>
          <p:nvPr/>
        </p:nvSpPr>
        <p:spPr>
          <a:xfrm>
            <a:off x="914400" y="4160520"/>
            <a:ext cx="4389120" cy="868680"/>
          </a:xfrm>
          <a:prstGeom prst="roundRect">
            <a:avLst/>
          </a:prstGeom>
          <a:solidFill>
            <a:srgbClr val="F4F6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105F686-EFD5-82FC-2284-4F821A9D54FD}"/>
              </a:ext>
            </a:extLst>
          </p:cNvPr>
          <p:cNvSpPr txBox="1"/>
          <p:nvPr/>
        </p:nvSpPr>
        <p:spPr>
          <a:xfrm>
            <a:off x="914400" y="4160520"/>
            <a:ext cx="4389120" cy="43891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600" b="1">
                <a:solidFill>
                  <a:srgbClr val="1B2A4A"/>
                </a:solidFill>
                <a:latin typeface="Calibri" panose="020F0502020204030204" pitchFamily="34" charset="0"/>
              </a:rPr>
              <a:t>1 LLM call per investigation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03E393-B4B9-5D6A-69EB-A2866265CD4D}"/>
              </a:ext>
            </a:extLst>
          </p:cNvPr>
          <p:cNvSpPr txBox="1"/>
          <p:nvPr/>
        </p:nvSpPr>
        <p:spPr>
          <a:xfrm>
            <a:off x="914400" y="4599432"/>
            <a:ext cx="4389120" cy="36576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US" sz="1100">
                <a:solidFill>
                  <a:srgbClr val="34495E"/>
                </a:solidFill>
                <a:latin typeface="Calibri" panose="020F0502020204030204" pitchFamily="34" charset="0"/>
              </a:rPr>
              <a:t>Cost-efficient by design: heuristics run first, LLM summarises last</a:t>
            </a:r>
            <a:endParaRPr lang="en-IN" sz="1100">
              <a:solidFill>
                <a:srgbClr val="34495E"/>
              </a:solidFill>
              <a:latin typeface="Calibri" panose="020F0502020204030204" pitchFamily="34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1E90A9D-629E-5EA4-95E5-8E9F4E3BEA30}"/>
              </a:ext>
            </a:extLst>
          </p:cNvPr>
          <p:cNvSpPr/>
          <p:nvPr/>
        </p:nvSpPr>
        <p:spPr>
          <a:xfrm>
            <a:off x="6885432" y="4160520"/>
            <a:ext cx="4389120" cy="868680"/>
          </a:xfrm>
          <a:prstGeom prst="roundRect">
            <a:avLst/>
          </a:prstGeom>
          <a:solidFill>
            <a:srgbClr val="F4F6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C5DA81-2C01-7F4E-EE7A-433E30043970}"/>
              </a:ext>
            </a:extLst>
          </p:cNvPr>
          <p:cNvSpPr txBox="1"/>
          <p:nvPr/>
        </p:nvSpPr>
        <p:spPr>
          <a:xfrm>
            <a:off x="6885432" y="4160520"/>
            <a:ext cx="4389120" cy="43891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600" b="1">
                <a:solidFill>
                  <a:srgbClr val="1B2A4A"/>
                </a:solidFill>
                <a:latin typeface="Calibri" panose="020F0502020204030204" pitchFamily="34" charset="0"/>
              </a:rPr>
              <a:t>Under USD 0.002 per incident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6AD968A-D4B9-34FE-C27E-A11E7CBCFAC8}"/>
              </a:ext>
            </a:extLst>
          </p:cNvPr>
          <p:cNvSpPr txBox="1"/>
          <p:nvPr/>
        </p:nvSpPr>
        <p:spPr>
          <a:xfrm>
            <a:off x="6885432" y="4599432"/>
            <a:ext cx="4389120" cy="36576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US" sz="1100">
                <a:solidFill>
                  <a:srgbClr val="34495E"/>
                </a:solidFill>
                <a:latin typeface="Calibri" panose="020F0502020204030204" pitchFamily="34" charset="0"/>
              </a:rPr>
              <a:t>GPT-4.1-mini at ~2,000 tokens = ultra-low cost at scale</a:t>
            </a:r>
            <a:endParaRPr lang="en-IN" sz="1100">
              <a:solidFill>
                <a:srgbClr val="34495E"/>
              </a:solidFill>
              <a:latin typeface="Calibri" panose="020F050202020403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685E529-B188-6CFA-7A47-C63DD35A964A}"/>
              </a:ext>
            </a:extLst>
          </p:cNvPr>
          <p:cNvSpPr/>
          <p:nvPr/>
        </p:nvSpPr>
        <p:spPr>
          <a:xfrm>
            <a:off x="365760" y="5230368"/>
            <a:ext cx="11457432" cy="594360"/>
          </a:xfrm>
          <a:prstGeom prst="rect">
            <a:avLst/>
          </a:prstGeom>
          <a:solidFill>
            <a:srgbClr val="1B2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8182951-AB0A-2435-A366-FF1727A98467}"/>
              </a:ext>
            </a:extLst>
          </p:cNvPr>
          <p:cNvSpPr txBox="1"/>
          <p:nvPr/>
        </p:nvSpPr>
        <p:spPr>
          <a:xfrm>
            <a:off x="365760" y="5230368"/>
            <a:ext cx="11457432" cy="59436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200">
                <a:solidFill>
                  <a:srgbClr val="F47B20"/>
                </a:solidFill>
                <a:latin typeface="Calibri" panose="020F0502020204030204" pitchFamily="34" charset="0"/>
              </a:rPr>
              <a:t>5 Spring Boot microservices  +  1 Python FastAPI agent  +  3-stack CloudFormation IaC  +  GitHub Actions CI/CD</a:t>
            </a:r>
          </a:p>
        </p:txBody>
      </p:sp>
    </p:spTree>
    <p:extLst>
      <p:ext uri="{BB962C8B-B14F-4D97-AF65-F5344CB8AC3E}">
        <p14:creationId xmlns:p14="http://schemas.microsoft.com/office/powerpoint/2010/main" val="3218752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B8658E-BF41-CC12-378A-E6DA2C5190EC}"/>
              </a:ext>
            </a:extLst>
          </p:cNvPr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3400" b="1">
                <a:solidFill>
                  <a:srgbClr val="1B2A4A"/>
                </a:solidFill>
                <a:latin typeface="Calibri" panose="020F0502020204030204" pitchFamily="34" charset="0"/>
              </a:rPr>
              <a:t>Business Results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2C2A16-8E2D-CFD2-70BD-A44D4E21D0FB}"/>
              </a:ext>
            </a:extLst>
          </p:cNvPr>
          <p:cNvSpPr/>
          <p:nvPr/>
        </p:nvSpPr>
        <p:spPr>
          <a:xfrm>
            <a:off x="365760" y="795528"/>
            <a:ext cx="11430000" cy="54864"/>
          </a:xfrm>
          <a:prstGeom prst="rect">
            <a:avLst/>
          </a:prstGeom>
          <a:solidFill>
            <a:srgbClr val="1B2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26BC8BC-B551-4908-F53F-963B36BBECF6}"/>
              </a:ext>
            </a:extLst>
          </p:cNvPr>
          <p:cNvSpPr/>
          <p:nvPr/>
        </p:nvSpPr>
        <p:spPr>
          <a:xfrm>
            <a:off x="320040" y="960120"/>
            <a:ext cx="2743200" cy="2011680"/>
          </a:xfrm>
          <a:prstGeom prst="roundRect">
            <a:avLst/>
          </a:prstGeom>
          <a:solidFill>
            <a:srgbClr val="FFF3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B6E403-917A-32F8-8A1B-75FD7234A440}"/>
              </a:ext>
            </a:extLst>
          </p:cNvPr>
          <p:cNvSpPr txBox="1"/>
          <p:nvPr/>
        </p:nvSpPr>
        <p:spPr>
          <a:xfrm>
            <a:off x="320040" y="1069848"/>
            <a:ext cx="2743200" cy="7772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3800" b="1">
                <a:solidFill>
                  <a:srgbClr val="F47B20"/>
                </a:solidFill>
                <a:latin typeface="Calibri" panose="020F0502020204030204" pitchFamily="34" charset="0"/>
              </a:rPr>
              <a:t>60%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D91047-9632-1873-4D4F-D5DB08C2C487}"/>
              </a:ext>
            </a:extLst>
          </p:cNvPr>
          <p:cNvSpPr txBox="1"/>
          <p:nvPr/>
        </p:nvSpPr>
        <p:spPr>
          <a:xfrm>
            <a:off x="320040" y="1856232"/>
            <a:ext cx="2743200" cy="384048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300" b="1">
                <a:solidFill>
                  <a:srgbClr val="1B2A4A"/>
                </a:solidFill>
                <a:latin typeface="Calibri" panose="020F0502020204030204" pitchFamily="34" charset="0"/>
              </a:rPr>
              <a:t>MTTR Reduction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D0C7BB-315B-676D-6795-4DE5B288463E}"/>
              </a:ext>
            </a:extLst>
          </p:cNvPr>
          <p:cNvSpPr txBox="1"/>
          <p:nvPr/>
        </p:nvSpPr>
        <p:spPr>
          <a:xfrm>
            <a:off x="320040" y="2258568"/>
            <a:ext cx="2743200" cy="50292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000">
                <a:solidFill>
                  <a:srgbClr val="34495E"/>
                </a:solidFill>
                <a:latin typeface="Calibri" panose="020F0502020204030204" pitchFamily="34" charset="0"/>
              </a:rPr>
              <a:t>45 min to 18 min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7EA8442-E724-53E9-078D-D9224B82C9AD}"/>
              </a:ext>
            </a:extLst>
          </p:cNvPr>
          <p:cNvSpPr/>
          <p:nvPr/>
        </p:nvSpPr>
        <p:spPr>
          <a:xfrm>
            <a:off x="3200400" y="960120"/>
            <a:ext cx="2743200" cy="2011680"/>
          </a:xfrm>
          <a:prstGeom prst="roundRect">
            <a:avLst/>
          </a:prstGeom>
          <a:solidFill>
            <a:srgbClr val="FFF3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60A86E-F9EF-992E-152B-928FF8EF4F33}"/>
              </a:ext>
            </a:extLst>
          </p:cNvPr>
          <p:cNvSpPr txBox="1"/>
          <p:nvPr/>
        </p:nvSpPr>
        <p:spPr>
          <a:xfrm>
            <a:off x="3200400" y="1069848"/>
            <a:ext cx="2743200" cy="7772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3800" b="1">
                <a:solidFill>
                  <a:srgbClr val="F47B20"/>
                </a:solidFill>
                <a:latin typeface="Calibri" panose="020F0502020204030204" pitchFamily="34" charset="0"/>
              </a:rPr>
              <a:t>40%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A808F5-02B4-EDCB-3AD6-8373FE101425}"/>
              </a:ext>
            </a:extLst>
          </p:cNvPr>
          <p:cNvSpPr txBox="1"/>
          <p:nvPr/>
        </p:nvSpPr>
        <p:spPr>
          <a:xfrm>
            <a:off x="3200400" y="1856232"/>
            <a:ext cx="2743200" cy="384048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300" b="1">
                <a:solidFill>
                  <a:srgbClr val="1B2A4A"/>
                </a:solidFill>
                <a:latin typeface="Calibri" panose="020F0502020204030204" pitchFamily="34" charset="0"/>
              </a:rPr>
              <a:t>Cost Savings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B71052-51E7-D1CD-336E-80986F852B9B}"/>
              </a:ext>
            </a:extLst>
          </p:cNvPr>
          <p:cNvSpPr txBox="1"/>
          <p:nvPr/>
        </p:nvSpPr>
        <p:spPr>
          <a:xfrm>
            <a:off x="3200400" y="2258568"/>
            <a:ext cx="2743200" cy="50292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000">
                <a:solidFill>
                  <a:srgbClr val="34495E"/>
                </a:solidFill>
                <a:latin typeface="Calibri" panose="020F0502020204030204" pitchFamily="34" charset="0"/>
              </a:rPr>
              <a:t>right-sized auto-scaling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82F5E5C-1B73-3A36-3420-B074979BCF7C}"/>
              </a:ext>
            </a:extLst>
          </p:cNvPr>
          <p:cNvSpPr/>
          <p:nvPr/>
        </p:nvSpPr>
        <p:spPr>
          <a:xfrm>
            <a:off x="6080760" y="960120"/>
            <a:ext cx="2743200" cy="2011680"/>
          </a:xfrm>
          <a:prstGeom prst="roundRect">
            <a:avLst/>
          </a:prstGeom>
          <a:solidFill>
            <a:srgbClr val="EAFA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CCAB0D-6366-AA3B-29DB-EE6550A392F9}"/>
              </a:ext>
            </a:extLst>
          </p:cNvPr>
          <p:cNvSpPr txBox="1"/>
          <p:nvPr/>
        </p:nvSpPr>
        <p:spPr>
          <a:xfrm>
            <a:off x="6080760" y="1069848"/>
            <a:ext cx="2743200" cy="7772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3800" b="1">
                <a:solidFill>
                  <a:srgbClr val="27AE60"/>
                </a:solidFill>
                <a:latin typeface="Calibri" panose="020F0502020204030204" pitchFamily="34" charset="0"/>
              </a:rPr>
              <a:t>99.85%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818897-14A6-5BB0-20D9-B6355533CBD6}"/>
              </a:ext>
            </a:extLst>
          </p:cNvPr>
          <p:cNvSpPr txBox="1"/>
          <p:nvPr/>
        </p:nvSpPr>
        <p:spPr>
          <a:xfrm>
            <a:off x="6080760" y="1856232"/>
            <a:ext cx="2743200" cy="384048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300" b="1">
                <a:solidFill>
                  <a:srgbClr val="1B2A4A"/>
                </a:solidFill>
                <a:latin typeface="Calibri" panose="020F0502020204030204" pitchFamily="34" charset="0"/>
              </a:rPr>
              <a:t>Availability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0DB3C2-15F2-D0BB-CD7A-64F74031A435}"/>
              </a:ext>
            </a:extLst>
          </p:cNvPr>
          <p:cNvSpPr txBox="1"/>
          <p:nvPr/>
        </p:nvSpPr>
        <p:spPr>
          <a:xfrm>
            <a:off x="6080760" y="2258568"/>
            <a:ext cx="2743200" cy="50292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000">
                <a:solidFill>
                  <a:srgbClr val="34495E"/>
                </a:solidFill>
                <a:latin typeface="Calibri" panose="020F0502020204030204" pitchFamily="34" charset="0"/>
              </a:rPr>
              <a:t>across all services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5CB7E43-D504-5A06-469E-D9EF82123999}"/>
              </a:ext>
            </a:extLst>
          </p:cNvPr>
          <p:cNvSpPr/>
          <p:nvPr/>
        </p:nvSpPr>
        <p:spPr>
          <a:xfrm>
            <a:off x="8961120" y="960120"/>
            <a:ext cx="2743200" cy="2011680"/>
          </a:xfrm>
          <a:prstGeom prst="roundRect">
            <a:avLst/>
          </a:prstGeom>
          <a:solidFill>
            <a:srgbClr val="EBF5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3CDE5B-A0B8-F6B5-2314-4E328497FD1C}"/>
              </a:ext>
            </a:extLst>
          </p:cNvPr>
          <p:cNvSpPr txBox="1"/>
          <p:nvPr/>
        </p:nvSpPr>
        <p:spPr>
          <a:xfrm>
            <a:off x="8961120" y="1069848"/>
            <a:ext cx="2743200" cy="7772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3800" b="1">
                <a:solidFill>
                  <a:srgbClr val="4A90D9"/>
                </a:solidFill>
                <a:latin typeface="Calibri" panose="020F0502020204030204" pitchFamily="34" charset="0"/>
              </a:rPr>
              <a:t>23:1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57AD64-5EB9-0F31-60E8-5CC29FBE5EFD}"/>
              </a:ext>
            </a:extLst>
          </p:cNvPr>
          <p:cNvSpPr txBox="1"/>
          <p:nvPr/>
        </p:nvSpPr>
        <p:spPr>
          <a:xfrm>
            <a:off x="8961120" y="1856232"/>
            <a:ext cx="2743200" cy="384048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300" b="1">
                <a:solidFill>
                  <a:srgbClr val="1B2A4A"/>
                </a:solidFill>
                <a:latin typeface="Calibri" panose="020F0502020204030204" pitchFamily="34" charset="0"/>
              </a:rPr>
              <a:t>ROI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CB69EE-8B48-254C-EB30-110DC07CF1DC}"/>
              </a:ext>
            </a:extLst>
          </p:cNvPr>
          <p:cNvSpPr txBox="1"/>
          <p:nvPr/>
        </p:nvSpPr>
        <p:spPr>
          <a:xfrm>
            <a:off x="8961120" y="2258568"/>
            <a:ext cx="2743200" cy="50292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000">
                <a:solidFill>
                  <a:srgbClr val="34495E"/>
                </a:solidFill>
                <a:latin typeface="Calibri" panose="020F0502020204030204" pitchFamily="34" charset="0"/>
              </a:rPr>
              <a:t>USD 2,250 vs USD 97/mo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BAF691-52D1-D622-7440-DE8F3B25C837}"/>
              </a:ext>
            </a:extLst>
          </p:cNvPr>
          <p:cNvSpPr/>
          <p:nvPr/>
        </p:nvSpPr>
        <p:spPr>
          <a:xfrm>
            <a:off x="320040" y="3154680"/>
            <a:ext cx="5486400" cy="269748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5DF9A1-CC77-4046-C3B1-AB47971916D8}"/>
              </a:ext>
            </a:extLst>
          </p:cNvPr>
          <p:cNvSpPr txBox="1"/>
          <p:nvPr/>
        </p:nvSpPr>
        <p:spPr>
          <a:xfrm>
            <a:off x="502920" y="3246120"/>
            <a:ext cx="5120640" cy="41148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400" b="1">
                <a:solidFill>
                  <a:srgbClr val="1B2A4A"/>
                </a:solidFill>
                <a:latin typeface="Calibri" panose="020F0502020204030204" pitchFamily="34" charset="0"/>
              </a:rPr>
              <a:t>Monthly Cost Breakdown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430E79-26AE-9890-1ACE-29603972D6D0}"/>
              </a:ext>
            </a:extLst>
          </p:cNvPr>
          <p:cNvSpPr txBox="1"/>
          <p:nvPr/>
        </p:nvSpPr>
        <p:spPr>
          <a:xfrm>
            <a:off x="502920" y="3703320"/>
            <a:ext cx="3657600" cy="30175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000">
                <a:solidFill>
                  <a:srgbClr val="34495E"/>
                </a:solidFill>
                <a:latin typeface="Calibri" panose="020F0502020204030204" pitchFamily="34" charset="0"/>
              </a:rPr>
              <a:t>ECS Fargate - App Services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56D7EC-E1C3-F162-0823-F681A6924A4E}"/>
              </a:ext>
            </a:extLst>
          </p:cNvPr>
          <p:cNvSpPr txBox="1"/>
          <p:nvPr/>
        </p:nvSpPr>
        <p:spPr>
          <a:xfrm>
            <a:off x="4251960" y="3703320"/>
            <a:ext cx="1371600" cy="30175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000" b="1">
                <a:solidFill>
                  <a:srgbClr val="1B2A4A"/>
                </a:solidFill>
                <a:latin typeface="Calibri" panose="020F0502020204030204" pitchFamily="34" charset="0"/>
              </a:rPr>
              <a:t>~USD 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312EC9-D100-B16B-0822-B2DC7D96EA8C}"/>
              </a:ext>
            </a:extLst>
          </p:cNvPr>
          <p:cNvSpPr txBox="1"/>
          <p:nvPr/>
        </p:nvSpPr>
        <p:spPr>
          <a:xfrm>
            <a:off x="502920" y="4032504"/>
            <a:ext cx="3657600" cy="30175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000">
                <a:solidFill>
                  <a:srgbClr val="34495E"/>
                </a:solidFill>
                <a:latin typeface="Calibri" panose="020F0502020204030204" pitchFamily="34" charset="0"/>
              </a:rPr>
              <a:t>ECS Fargate - Observability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8A9A10-AB38-AD19-D0D0-9E7CB45718A2}"/>
              </a:ext>
            </a:extLst>
          </p:cNvPr>
          <p:cNvSpPr txBox="1"/>
          <p:nvPr/>
        </p:nvSpPr>
        <p:spPr>
          <a:xfrm>
            <a:off x="4251960" y="4032504"/>
            <a:ext cx="1371600" cy="30175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000" b="1">
                <a:solidFill>
                  <a:srgbClr val="1B2A4A"/>
                </a:solidFill>
                <a:latin typeface="Calibri" panose="020F0502020204030204" pitchFamily="34" charset="0"/>
              </a:rPr>
              <a:t>~USD 20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FFF594-E3A6-E2B0-D906-536381539D5F}"/>
              </a:ext>
            </a:extLst>
          </p:cNvPr>
          <p:cNvSpPr txBox="1"/>
          <p:nvPr/>
        </p:nvSpPr>
        <p:spPr>
          <a:xfrm>
            <a:off x="502920" y="4361688"/>
            <a:ext cx="3657600" cy="30175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000">
                <a:solidFill>
                  <a:srgbClr val="34495E"/>
                </a:solidFill>
                <a:latin typeface="Calibri" panose="020F0502020204030204" pitchFamily="34" charset="0"/>
              </a:rPr>
              <a:t>Application Load Balancer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4EE313-D23F-2774-3257-82A6D5694B81}"/>
              </a:ext>
            </a:extLst>
          </p:cNvPr>
          <p:cNvSpPr txBox="1"/>
          <p:nvPr/>
        </p:nvSpPr>
        <p:spPr>
          <a:xfrm>
            <a:off x="4251960" y="4361688"/>
            <a:ext cx="1371600" cy="30175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000" b="1">
                <a:solidFill>
                  <a:srgbClr val="1B2A4A"/>
                </a:solidFill>
                <a:latin typeface="Calibri" panose="020F0502020204030204" pitchFamily="34" charset="0"/>
              </a:rPr>
              <a:t>~USD 18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371FB4-EB8F-369A-4911-0BC555E63862}"/>
              </a:ext>
            </a:extLst>
          </p:cNvPr>
          <p:cNvSpPr txBox="1"/>
          <p:nvPr/>
        </p:nvSpPr>
        <p:spPr>
          <a:xfrm>
            <a:off x="502920" y="4690872"/>
            <a:ext cx="3657600" cy="30175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000">
                <a:solidFill>
                  <a:srgbClr val="34495E"/>
                </a:solidFill>
                <a:latin typeface="Calibri" panose="020F0502020204030204" pitchFamily="34" charset="0"/>
              </a:rPr>
              <a:t>CloudWatch Logs (7-day)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9368CA-AF04-5F46-4A77-F237BEF685BC}"/>
              </a:ext>
            </a:extLst>
          </p:cNvPr>
          <p:cNvSpPr txBox="1"/>
          <p:nvPr/>
        </p:nvSpPr>
        <p:spPr>
          <a:xfrm>
            <a:off x="4251960" y="4690872"/>
            <a:ext cx="1371600" cy="30175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000" b="1">
                <a:solidFill>
                  <a:srgbClr val="1B2A4A"/>
                </a:solidFill>
                <a:latin typeface="Calibri" panose="020F0502020204030204" pitchFamily="34" charset="0"/>
              </a:rPr>
              <a:t>~USD 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FF75FC-8639-F83F-23E0-8E3080D86EAA}"/>
              </a:ext>
            </a:extLst>
          </p:cNvPr>
          <p:cNvSpPr txBox="1"/>
          <p:nvPr/>
        </p:nvSpPr>
        <p:spPr>
          <a:xfrm>
            <a:off x="502920" y="5020056"/>
            <a:ext cx="3657600" cy="30175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000">
                <a:solidFill>
                  <a:srgbClr val="34495E"/>
                </a:solidFill>
                <a:latin typeface="Calibri" panose="020F0502020204030204" pitchFamily="34" charset="0"/>
              </a:rPr>
              <a:t>Secrets Manager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E803F2-2E5D-1F51-71B0-D0A3A404C57D}"/>
              </a:ext>
            </a:extLst>
          </p:cNvPr>
          <p:cNvSpPr txBox="1"/>
          <p:nvPr/>
        </p:nvSpPr>
        <p:spPr>
          <a:xfrm>
            <a:off x="4251960" y="5020056"/>
            <a:ext cx="1371600" cy="30175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000" b="1">
                <a:solidFill>
                  <a:srgbClr val="1B2A4A"/>
                </a:solidFill>
                <a:latin typeface="Calibri" panose="020F0502020204030204" pitchFamily="34" charset="0"/>
              </a:rPr>
              <a:t>~USD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7633C3B-BED5-0A07-4D60-DFE824F116E7}"/>
              </a:ext>
            </a:extLst>
          </p:cNvPr>
          <p:cNvSpPr txBox="1"/>
          <p:nvPr/>
        </p:nvSpPr>
        <p:spPr>
          <a:xfrm>
            <a:off x="502920" y="5349240"/>
            <a:ext cx="3657600" cy="30175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000">
                <a:solidFill>
                  <a:srgbClr val="34495E"/>
                </a:solidFill>
                <a:latin typeface="Calibri" panose="020F0502020204030204" pitchFamily="34" charset="0"/>
              </a:rPr>
              <a:t>OpenAI GPT-4.1-mini API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A243CC-2207-A56E-B3FD-F25AD64C142E}"/>
              </a:ext>
            </a:extLst>
          </p:cNvPr>
          <p:cNvSpPr txBox="1"/>
          <p:nvPr/>
        </p:nvSpPr>
        <p:spPr>
          <a:xfrm>
            <a:off x="4251960" y="5349240"/>
            <a:ext cx="1371600" cy="30175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000" b="1">
                <a:solidFill>
                  <a:srgbClr val="1B2A4A"/>
                </a:solidFill>
                <a:latin typeface="Calibri" panose="020F0502020204030204" pitchFamily="34" charset="0"/>
              </a:rPr>
              <a:t>~USD 8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911272C-9C50-60F4-34D9-EBB1A7A822D3}"/>
              </a:ext>
            </a:extLst>
          </p:cNvPr>
          <p:cNvSpPr/>
          <p:nvPr/>
        </p:nvSpPr>
        <p:spPr>
          <a:xfrm>
            <a:off x="320040" y="5687568"/>
            <a:ext cx="5486400" cy="36576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49873AC-8D6B-D7D0-F49E-0A2192541B74}"/>
              </a:ext>
            </a:extLst>
          </p:cNvPr>
          <p:cNvSpPr txBox="1"/>
          <p:nvPr/>
        </p:nvSpPr>
        <p:spPr>
          <a:xfrm>
            <a:off x="320040" y="5687568"/>
            <a:ext cx="5486400" cy="36576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Calibri" panose="020F0502020204030204" pitchFamily="34" charset="0"/>
              </a:rPr>
              <a:t>TOTAL:  ~USD 97/month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D949ECE-9809-F467-C9B5-79304013A56D}"/>
              </a:ext>
            </a:extLst>
          </p:cNvPr>
          <p:cNvSpPr/>
          <p:nvPr/>
        </p:nvSpPr>
        <p:spPr>
          <a:xfrm>
            <a:off x="6035040" y="3154680"/>
            <a:ext cx="5605272" cy="269748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82840E-3447-82B8-A457-2E42AC3EFF8A}"/>
              </a:ext>
            </a:extLst>
          </p:cNvPr>
          <p:cNvSpPr txBox="1"/>
          <p:nvPr/>
        </p:nvSpPr>
        <p:spPr>
          <a:xfrm>
            <a:off x="6217920" y="3246120"/>
            <a:ext cx="5212080" cy="41148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400" b="1">
                <a:solidFill>
                  <a:srgbClr val="1B2A4A"/>
                </a:solidFill>
                <a:latin typeface="Calibri" panose="020F0502020204030204" pitchFamily="34" charset="0"/>
              </a:rPr>
              <a:t>Performance Achieved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A7D05D-D64B-FA0E-583C-10D036EEFFFB}"/>
              </a:ext>
            </a:extLst>
          </p:cNvPr>
          <p:cNvSpPr txBox="1"/>
          <p:nvPr/>
        </p:nvSpPr>
        <p:spPr>
          <a:xfrm>
            <a:off x="6217920" y="3703320"/>
            <a:ext cx="3474720" cy="34747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000">
                <a:solidFill>
                  <a:srgbClr val="34495E"/>
                </a:solidFill>
                <a:latin typeface="Calibri" panose="020F0502020204030204" pitchFamily="34" charset="0"/>
              </a:rPr>
              <a:t>P99 latency (core services)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842237-C9B0-44C7-E813-92671BB12BAE}"/>
              </a:ext>
            </a:extLst>
          </p:cNvPr>
          <p:cNvSpPr txBox="1"/>
          <p:nvPr/>
        </p:nvSpPr>
        <p:spPr>
          <a:xfrm>
            <a:off x="9784080" y="3703320"/>
            <a:ext cx="1645920" cy="34747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100" b="1">
                <a:solidFill>
                  <a:srgbClr val="27AE60"/>
                </a:solidFill>
                <a:latin typeface="Calibri" panose="020F0502020204030204" pitchFamily="34" charset="0"/>
              </a:rPr>
              <a:t>&lt;500 ms SLA met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3926C4C-B4DF-C969-0413-14F6920909E9}"/>
              </a:ext>
            </a:extLst>
          </p:cNvPr>
          <p:cNvSpPr txBox="1"/>
          <p:nvPr/>
        </p:nvSpPr>
        <p:spPr>
          <a:xfrm>
            <a:off x="6217920" y="4096512"/>
            <a:ext cx="3474720" cy="34747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000">
                <a:solidFill>
                  <a:srgbClr val="34495E"/>
                </a:solidFill>
                <a:latin typeface="Calibri" panose="020F0502020204030204" pitchFamily="34" charset="0"/>
              </a:rPr>
              <a:t>Overall platform uptime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0B7B31D-A6A7-8E7F-AB3C-F4CB61E25001}"/>
              </a:ext>
            </a:extLst>
          </p:cNvPr>
          <p:cNvSpPr txBox="1"/>
          <p:nvPr/>
        </p:nvSpPr>
        <p:spPr>
          <a:xfrm>
            <a:off x="9784080" y="4096512"/>
            <a:ext cx="1645920" cy="34747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100" b="1">
                <a:solidFill>
                  <a:srgbClr val="27AE60"/>
                </a:solidFill>
                <a:latin typeface="Calibri" panose="020F0502020204030204" pitchFamily="34" charset="0"/>
              </a:rPr>
              <a:t>99.85%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2438D0-36C3-008B-D641-CD9F152C851E}"/>
              </a:ext>
            </a:extLst>
          </p:cNvPr>
          <p:cNvSpPr txBox="1"/>
          <p:nvPr/>
        </p:nvSpPr>
        <p:spPr>
          <a:xfrm>
            <a:off x="6217920" y="4489704"/>
            <a:ext cx="3474720" cy="34747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000">
                <a:solidFill>
                  <a:srgbClr val="34495E"/>
                </a:solidFill>
                <a:latin typeface="Calibri" panose="020F0502020204030204" pitchFamily="34" charset="0"/>
              </a:rPr>
              <a:t>Peak throughput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99C6FE3-14B5-CB6D-3067-FC659AAE9659}"/>
              </a:ext>
            </a:extLst>
          </p:cNvPr>
          <p:cNvSpPr txBox="1"/>
          <p:nvPr/>
        </p:nvSpPr>
        <p:spPr>
          <a:xfrm>
            <a:off x="9784080" y="4489704"/>
            <a:ext cx="1645920" cy="34747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100" b="1">
                <a:solidFill>
                  <a:srgbClr val="4A90D9"/>
                </a:solidFill>
                <a:latin typeface="Calibri" panose="020F0502020204030204" pitchFamily="34" charset="0"/>
              </a:rPr>
              <a:t>492 RPS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44DD21-807D-47E1-CFDA-AAC3CDAA7607}"/>
              </a:ext>
            </a:extLst>
          </p:cNvPr>
          <p:cNvSpPr txBox="1"/>
          <p:nvPr/>
        </p:nvSpPr>
        <p:spPr>
          <a:xfrm>
            <a:off x="6217920" y="4882896"/>
            <a:ext cx="3474720" cy="34747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000">
                <a:solidFill>
                  <a:srgbClr val="34495E"/>
                </a:solidFill>
                <a:latin typeface="Calibri" panose="020F0502020204030204" pitchFamily="34" charset="0"/>
              </a:rPr>
              <a:t>Overall error rate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471B960-6424-E4B3-5314-6015882749DA}"/>
              </a:ext>
            </a:extLst>
          </p:cNvPr>
          <p:cNvSpPr txBox="1"/>
          <p:nvPr/>
        </p:nvSpPr>
        <p:spPr>
          <a:xfrm>
            <a:off x="9784080" y="4882896"/>
            <a:ext cx="1645920" cy="34747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100" b="1">
                <a:solidFill>
                  <a:srgbClr val="27AE60"/>
                </a:solidFill>
                <a:latin typeface="Calibri" panose="020F0502020204030204" pitchFamily="34" charset="0"/>
              </a:rPr>
              <a:t>0.12%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62EB0DD-3027-99C7-4F67-AA20DF811D3D}"/>
              </a:ext>
            </a:extLst>
          </p:cNvPr>
          <p:cNvSpPr txBox="1"/>
          <p:nvPr/>
        </p:nvSpPr>
        <p:spPr>
          <a:xfrm>
            <a:off x="6217920" y="5276088"/>
            <a:ext cx="3474720" cy="34747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000">
                <a:solidFill>
                  <a:srgbClr val="34495E"/>
                </a:solidFill>
                <a:latin typeface="Calibri" panose="020F0502020204030204" pitchFamily="34" charset="0"/>
              </a:rPr>
              <a:t>Auto-scale events (30 days)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211FF13-01C0-1DE9-DB30-B2FF75B1F5C9}"/>
              </a:ext>
            </a:extLst>
          </p:cNvPr>
          <p:cNvSpPr txBox="1"/>
          <p:nvPr/>
        </p:nvSpPr>
        <p:spPr>
          <a:xfrm>
            <a:off x="9784080" y="5276088"/>
            <a:ext cx="1645920" cy="34747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100" b="1">
                <a:solidFill>
                  <a:srgbClr val="F47B20"/>
                </a:solidFill>
                <a:latin typeface="Calibri" panose="020F0502020204030204" pitchFamily="34" charset="0"/>
              </a:rPr>
              <a:t>14 scale-outs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B8A19F8-4C1E-9298-B7AD-A2C3C430D1C8}"/>
              </a:ext>
            </a:extLst>
          </p:cNvPr>
          <p:cNvSpPr/>
          <p:nvPr/>
        </p:nvSpPr>
        <p:spPr>
          <a:xfrm>
            <a:off x="6035040" y="5687568"/>
            <a:ext cx="5605272" cy="36576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3C0E9E3-103D-7A1B-0101-F17A10EEB166}"/>
              </a:ext>
            </a:extLst>
          </p:cNvPr>
          <p:cNvSpPr txBox="1"/>
          <p:nvPr/>
        </p:nvSpPr>
        <p:spPr>
          <a:xfrm>
            <a:off x="6035040" y="5687568"/>
            <a:ext cx="5605272" cy="36576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Platform ready for production deployment</a:t>
            </a:r>
            <a:endParaRPr lang="en-IN" sz="13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652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C5543A-BAC0-9654-6520-DE67B4E13D24}"/>
              </a:ext>
            </a:extLst>
          </p:cNvPr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3800" b="1">
                <a:solidFill>
                  <a:srgbClr val="FFFFFF"/>
                </a:solidFill>
                <a:latin typeface="Calibri" panose="020F0502020204030204" pitchFamily="34" charset="0"/>
              </a:rPr>
              <a:t>What's Next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A34E59-E43B-44CE-D0C0-68B58E0AA5C7}"/>
              </a:ext>
            </a:extLst>
          </p:cNvPr>
          <p:cNvSpPr txBox="1"/>
          <p:nvPr/>
        </p:nvSpPr>
        <p:spPr>
          <a:xfrm>
            <a:off x="365760" y="868680"/>
            <a:ext cx="11430000" cy="384048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US" sz="1500">
                <a:solidFill>
                  <a:srgbClr val="93C6E7"/>
                </a:solidFill>
                <a:latin typeface="Calibri" panose="020F0502020204030204" pitchFamily="34" charset="0"/>
              </a:rPr>
              <a:t>Three phases from proven POC to enterprise-scale Agentic AI</a:t>
            </a:r>
            <a:endParaRPr lang="en-IN" sz="1500">
              <a:solidFill>
                <a:srgbClr val="93C6E7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F6BE83-FC33-1C5B-A627-646156A47373}"/>
              </a:ext>
            </a:extLst>
          </p:cNvPr>
          <p:cNvSpPr/>
          <p:nvPr/>
        </p:nvSpPr>
        <p:spPr>
          <a:xfrm>
            <a:off x="320040" y="1417320"/>
            <a:ext cx="3657600" cy="548640"/>
          </a:xfrm>
          <a:prstGeom prst="rect">
            <a:avLst/>
          </a:prstGeom>
          <a:solidFill>
            <a:srgbClr val="F47B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F666FD-F7FA-82DF-C870-7C34F4F7A2CD}"/>
              </a:ext>
            </a:extLst>
          </p:cNvPr>
          <p:cNvSpPr txBox="1"/>
          <p:nvPr/>
        </p:nvSpPr>
        <p:spPr>
          <a:xfrm>
            <a:off x="320040" y="1417320"/>
            <a:ext cx="3657600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Calibri" panose="020F0502020204030204" pitchFamily="34" charset="0"/>
              </a:rPr>
              <a:t>NOW - Proven POC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935375-D657-D36B-C9CD-0EF71F3D5324}"/>
              </a:ext>
            </a:extLst>
          </p:cNvPr>
          <p:cNvSpPr/>
          <p:nvPr/>
        </p:nvSpPr>
        <p:spPr>
          <a:xfrm>
            <a:off x="320040" y="1965960"/>
            <a:ext cx="3657600" cy="3657600"/>
          </a:xfrm>
          <a:prstGeom prst="rect">
            <a:avLst/>
          </a:prstGeom>
          <a:solidFill>
            <a:srgbClr val="1E3A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172B93C-7A54-74D0-C6E6-247C826023C2}"/>
              </a:ext>
            </a:extLst>
          </p:cNvPr>
          <p:cNvSpPr/>
          <p:nvPr/>
        </p:nvSpPr>
        <p:spPr>
          <a:xfrm>
            <a:off x="429768" y="2103120"/>
            <a:ext cx="3438144" cy="548640"/>
          </a:xfrm>
          <a:prstGeom prst="roundRect">
            <a:avLst/>
          </a:prstGeom>
          <a:solidFill>
            <a:srgbClr val="253F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EF921A-4506-7956-82DC-52A86F257876}"/>
              </a:ext>
            </a:extLst>
          </p:cNvPr>
          <p:cNvSpPr txBox="1"/>
          <p:nvPr/>
        </p:nvSpPr>
        <p:spPr>
          <a:xfrm>
            <a:off x="521208" y="2103120"/>
            <a:ext cx="3328416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100">
                <a:solidFill>
                  <a:srgbClr val="FFFFFF"/>
                </a:solidFill>
                <a:latin typeface="Calibri" panose="020F0502020204030204" pitchFamily="34" charset="0"/>
              </a:rPr>
              <a:t>Docker Desktop K8s validated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F2FFB00-83CF-E387-1454-2C9D1E98D33D}"/>
              </a:ext>
            </a:extLst>
          </p:cNvPr>
          <p:cNvSpPr/>
          <p:nvPr/>
        </p:nvSpPr>
        <p:spPr>
          <a:xfrm>
            <a:off x="429768" y="2788920"/>
            <a:ext cx="3438144" cy="548640"/>
          </a:xfrm>
          <a:prstGeom prst="roundRect">
            <a:avLst/>
          </a:prstGeom>
          <a:solidFill>
            <a:srgbClr val="253F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B92DA4-52DD-E902-A8BF-CFC4C4572814}"/>
              </a:ext>
            </a:extLst>
          </p:cNvPr>
          <p:cNvSpPr txBox="1"/>
          <p:nvPr/>
        </p:nvSpPr>
        <p:spPr>
          <a:xfrm>
            <a:off x="521208" y="2788920"/>
            <a:ext cx="3328416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100">
                <a:solidFill>
                  <a:srgbClr val="FFFFFF"/>
                </a:solidFill>
                <a:latin typeface="Calibri" panose="020F0502020204030204" pitchFamily="34" charset="0"/>
              </a:rPr>
              <a:t>IBM Cloud IKS deployed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C9BDE4C-844A-9EE3-79AE-C0801ED9A077}"/>
              </a:ext>
            </a:extLst>
          </p:cNvPr>
          <p:cNvSpPr/>
          <p:nvPr/>
        </p:nvSpPr>
        <p:spPr>
          <a:xfrm>
            <a:off x="429768" y="3474720"/>
            <a:ext cx="3438144" cy="548640"/>
          </a:xfrm>
          <a:prstGeom prst="roundRect">
            <a:avLst/>
          </a:prstGeom>
          <a:solidFill>
            <a:srgbClr val="253F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3BCC24-95FF-BA80-1068-E8F317D7FCEC}"/>
              </a:ext>
            </a:extLst>
          </p:cNvPr>
          <p:cNvSpPr txBox="1"/>
          <p:nvPr/>
        </p:nvSpPr>
        <p:spPr>
          <a:xfrm>
            <a:off x="521208" y="3474720"/>
            <a:ext cx="3328416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sz="1100">
                <a:solidFill>
                  <a:srgbClr val="FFFFFF"/>
                </a:solidFill>
                <a:latin typeface="Calibri" panose="020F0502020204030204" pitchFamily="34" charset="0"/>
              </a:rPr>
              <a:t>CI/CD green on all branches</a:t>
            </a:r>
            <a:endParaRPr lang="en-IN" sz="11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5D3F6E4-F3BA-1EDA-F8B8-80ADECB52129}"/>
              </a:ext>
            </a:extLst>
          </p:cNvPr>
          <p:cNvSpPr/>
          <p:nvPr/>
        </p:nvSpPr>
        <p:spPr>
          <a:xfrm>
            <a:off x="429768" y="4160520"/>
            <a:ext cx="3438144" cy="548640"/>
          </a:xfrm>
          <a:prstGeom prst="roundRect">
            <a:avLst/>
          </a:prstGeom>
          <a:solidFill>
            <a:srgbClr val="253F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1E0C5A-180D-6C3C-6772-08BB2A49E2ED}"/>
              </a:ext>
            </a:extLst>
          </p:cNvPr>
          <p:cNvSpPr txBox="1"/>
          <p:nvPr/>
        </p:nvSpPr>
        <p:spPr>
          <a:xfrm>
            <a:off x="521208" y="4160520"/>
            <a:ext cx="3328416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100">
                <a:solidFill>
                  <a:srgbClr val="FFFFFF"/>
                </a:solidFill>
                <a:latin typeface="Calibri" panose="020F0502020204030204" pitchFamily="34" charset="0"/>
              </a:rPr>
              <a:t>All 5 services healthy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A9D8106-D532-CFE3-63B5-21F67742C7E3}"/>
              </a:ext>
            </a:extLst>
          </p:cNvPr>
          <p:cNvSpPr/>
          <p:nvPr/>
        </p:nvSpPr>
        <p:spPr>
          <a:xfrm>
            <a:off x="429768" y="4846320"/>
            <a:ext cx="3438144" cy="548640"/>
          </a:xfrm>
          <a:prstGeom prst="roundRect">
            <a:avLst/>
          </a:prstGeom>
          <a:solidFill>
            <a:srgbClr val="253F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38FBBF-0071-D5D3-98BD-F6D6C66C728F}"/>
              </a:ext>
            </a:extLst>
          </p:cNvPr>
          <p:cNvSpPr txBox="1"/>
          <p:nvPr/>
        </p:nvSpPr>
        <p:spPr>
          <a:xfrm>
            <a:off x="521208" y="4846320"/>
            <a:ext cx="3328416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de-DE" sz="1100">
                <a:solidFill>
                  <a:srgbClr val="FFFFFF"/>
                </a:solidFill>
                <a:latin typeface="Calibri" panose="020F0502020204030204" pitchFamily="34" charset="0"/>
              </a:rPr>
              <a:t>Multi-arch images in Docker Hub</a:t>
            </a:r>
            <a:endParaRPr lang="en-IN" sz="11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119190-3C7D-1665-A6E8-462B47E57A83}"/>
              </a:ext>
            </a:extLst>
          </p:cNvPr>
          <p:cNvSpPr/>
          <p:nvPr/>
        </p:nvSpPr>
        <p:spPr>
          <a:xfrm>
            <a:off x="4206240" y="1417320"/>
            <a:ext cx="3657600" cy="54864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84908B-504B-EA62-44DE-5914AF727AB5}"/>
              </a:ext>
            </a:extLst>
          </p:cNvPr>
          <p:cNvSpPr txBox="1"/>
          <p:nvPr/>
        </p:nvSpPr>
        <p:spPr>
          <a:xfrm>
            <a:off x="4206240" y="1417320"/>
            <a:ext cx="3657600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Calibri" panose="020F0502020204030204" pitchFamily="34" charset="0"/>
              </a:rPr>
              <a:t>SPRINT 1 - Quick Wins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FD666D-3502-232E-CC4C-6B2D9ED5CC53}"/>
              </a:ext>
            </a:extLst>
          </p:cNvPr>
          <p:cNvSpPr/>
          <p:nvPr/>
        </p:nvSpPr>
        <p:spPr>
          <a:xfrm>
            <a:off x="4206240" y="1965960"/>
            <a:ext cx="3657600" cy="3657600"/>
          </a:xfrm>
          <a:prstGeom prst="rect">
            <a:avLst/>
          </a:prstGeom>
          <a:solidFill>
            <a:srgbClr val="1E3A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182627D-BC67-AADD-2877-ECDD77ECA8FB}"/>
              </a:ext>
            </a:extLst>
          </p:cNvPr>
          <p:cNvSpPr/>
          <p:nvPr/>
        </p:nvSpPr>
        <p:spPr>
          <a:xfrm>
            <a:off x="4315968" y="2103120"/>
            <a:ext cx="3438144" cy="548640"/>
          </a:xfrm>
          <a:prstGeom prst="roundRect">
            <a:avLst/>
          </a:prstGeom>
          <a:solidFill>
            <a:srgbClr val="253F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340546-27F6-BD3A-D612-3CD428244702}"/>
              </a:ext>
            </a:extLst>
          </p:cNvPr>
          <p:cNvSpPr txBox="1"/>
          <p:nvPr/>
        </p:nvSpPr>
        <p:spPr>
          <a:xfrm>
            <a:off x="4407408" y="2103120"/>
            <a:ext cx="3328416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100">
                <a:solidFill>
                  <a:srgbClr val="FFFFFF"/>
                </a:solidFill>
                <a:latin typeface="Calibri" panose="020F0502020204030204" pitchFamily="34" charset="0"/>
              </a:rPr>
              <a:t>SQS async for image service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6DA45FD-9510-4B92-F806-4483E90770A8}"/>
              </a:ext>
            </a:extLst>
          </p:cNvPr>
          <p:cNvSpPr/>
          <p:nvPr/>
        </p:nvSpPr>
        <p:spPr>
          <a:xfrm>
            <a:off x="4315968" y="2788920"/>
            <a:ext cx="3438144" cy="548640"/>
          </a:xfrm>
          <a:prstGeom prst="roundRect">
            <a:avLst/>
          </a:prstGeom>
          <a:solidFill>
            <a:srgbClr val="253F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C833AD-A61E-E575-97AD-B2A117D646E7}"/>
              </a:ext>
            </a:extLst>
          </p:cNvPr>
          <p:cNvSpPr txBox="1"/>
          <p:nvPr/>
        </p:nvSpPr>
        <p:spPr>
          <a:xfrm>
            <a:off x="4407408" y="2788920"/>
            <a:ext cx="3328416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100">
                <a:solidFill>
                  <a:srgbClr val="FFFFFF"/>
                </a:solidFill>
                <a:latin typeface="Calibri" panose="020F0502020204030204" pitchFamily="34" charset="0"/>
              </a:rPr>
              <a:t>Slack incident notifications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0184A12-F3D6-7163-C68D-A3B566534EAB}"/>
              </a:ext>
            </a:extLst>
          </p:cNvPr>
          <p:cNvSpPr/>
          <p:nvPr/>
        </p:nvSpPr>
        <p:spPr>
          <a:xfrm>
            <a:off x="4315968" y="3474720"/>
            <a:ext cx="3438144" cy="548640"/>
          </a:xfrm>
          <a:prstGeom prst="roundRect">
            <a:avLst/>
          </a:prstGeom>
          <a:solidFill>
            <a:srgbClr val="253F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CB289B-B3A8-FF7D-5425-7A3B5B4236E6}"/>
              </a:ext>
            </a:extLst>
          </p:cNvPr>
          <p:cNvSpPr txBox="1"/>
          <p:nvPr/>
        </p:nvSpPr>
        <p:spPr>
          <a:xfrm>
            <a:off x="4407408" y="3474720"/>
            <a:ext cx="3328416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100">
                <a:solidFill>
                  <a:srgbClr val="FFFFFF"/>
                </a:solidFill>
                <a:latin typeface="Calibri" panose="020F0502020204030204" pitchFamily="34" charset="0"/>
              </a:rPr>
              <a:t>Expanded MCP tool catalogue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71E3A3D-1C86-3D83-77F3-6AEDB5BB7CEE}"/>
              </a:ext>
            </a:extLst>
          </p:cNvPr>
          <p:cNvSpPr/>
          <p:nvPr/>
        </p:nvSpPr>
        <p:spPr>
          <a:xfrm>
            <a:off x="4315968" y="4160520"/>
            <a:ext cx="3438144" cy="548640"/>
          </a:xfrm>
          <a:prstGeom prst="roundRect">
            <a:avLst/>
          </a:prstGeom>
          <a:solidFill>
            <a:srgbClr val="253F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80F6AF-606C-5BB2-1685-88E905FBC378}"/>
              </a:ext>
            </a:extLst>
          </p:cNvPr>
          <p:cNvSpPr txBox="1"/>
          <p:nvPr/>
        </p:nvSpPr>
        <p:spPr>
          <a:xfrm>
            <a:off x="4407408" y="4160520"/>
            <a:ext cx="3328416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100">
                <a:solidFill>
                  <a:srgbClr val="FFFFFF"/>
                </a:solidFill>
                <a:latin typeface="Calibri" panose="020F0502020204030204" pitchFamily="34" charset="0"/>
              </a:rPr>
              <a:t>Database pool metrics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1EAFB67-472C-A97E-63D8-28E74E6095CC}"/>
              </a:ext>
            </a:extLst>
          </p:cNvPr>
          <p:cNvSpPr/>
          <p:nvPr/>
        </p:nvSpPr>
        <p:spPr>
          <a:xfrm>
            <a:off x="4315968" y="4846320"/>
            <a:ext cx="3438144" cy="548640"/>
          </a:xfrm>
          <a:prstGeom prst="roundRect">
            <a:avLst/>
          </a:prstGeom>
          <a:solidFill>
            <a:srgbClr val="253F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4F11CA-587B-F1A5-9F58-93826F9D61CA}"/>
              </a:ext>
            </a:extLst>
          </p:cNvPr>
          <p:cNvSpPr txBox="1"/>
          <p:nvPr/>
        </p:nvSpPr>
        <p:spPr>
          <a:xfrm>
            <a:off x="4407408" y="4846320"/>
            <a:ext cx="3328416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100">
                <a:solidFill>
                  <a:srgbClr val="FFFFFF"/>
                </a:solidFill>
                <a:latin typeface="Calibri" panose="020F0502020204030204" pitchFamily="34" charset="0"/>
              </a:rPr>
              <a:t>P99 SLA breach remediation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02A408E-AE96-7BBD-2F39-EA0ED0C9E2AA}"/>
              </a:ext>
            </a:extLst>
          </p:cNvPr>
          <p:cNvSpPr/>
          <p:nvPr/>
        </p:nvSpPr>
        <p:spPr>
          <a:xfrm>
            <a:off x="8092440" y="1417320"/>
            <a:ext cx="3657600" cy="54864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94245A-2007-8562-9E16-561CA02E5E98}"/>
              </a:ext>
            </a:extLst>
          </p:cNvPr>
          <p:cNvSpPr txBox="1"/>
          <p:nvPr/>
        </p:nvSpPr>
        <p:spPr>
          <a:xfrm>
            <a:off x="8092440" y="1417320"/>
            <a:ext cx="3657600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Calibri" panose="020F0502020204030204" pitchFamily="34" charset="0"/>
              </a:rPr>
              <a:t>SCALE - Enterprise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D3315CC-9DB2-68CA-5F0A-105696B85104}"/>
              </a:ext>
            </a:extLst>
          </p:cNvPr>
          <p:cNvSpPr/>
          <p:nvPr/>
        </p:nvSpPr>
        <p:spPr>
          <a:xfrm>
            <a:off x="8092440" y="1965960"/>
            <a:ext cx="3657600" cy="3657600"/>
          </a:xfrm>
          <a:prstGeom prst="rect">
            <a:avLst/>
          </a:prstGeom>
          <a:solidFill>
            <a:srgbClr val="1E3A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C66ED29-33BF-B9BC-C22D-F7B362BDE041}"/>
              </a:ext>
            </a:extLst>
          </p:cNvPr>
          <p:cNvSpPr/>
          <p:nvPr/>
        </p:nvSpPr>
        <p:spPr>
          <a:xfrm>
            <a:off x="8202168" y="2103120"/>
            <a:ext cx="3438145" cy="548640"/>
          </a:xfrm>
          <a:prstGeom prst="roundRect">
            <a:avLst/>
          </a:prstGeom>
          <a:solidFill>
            <a:srgbClr val="253F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8DBD1C-9A67-6F1F-781E-FF64E30F41E3}"/>
              </a:ext>
            </a:extLst>
          </p:cNvPr>
          <p:cNvSpPr txBox="1"/>
          <p:nvPr/>
        </p:nvSpPr>
        <p:spPr>
          <a:xfrm>
            <a:off x="8293608" y="2103120"/>
            <a:ext cx="3328416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100">
                <a:solidFill>
                  <a:srgbClr val="FFFFFF"/>
                </a:solidFill>
                <a:latin typeface="Calibri" panose="020F0502020204030204" pitchFamily="34" charset="0"/>
              </a:rPr>
              <a:t>Multi-cluster federation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7F66B51-B4DB-1763-1E5A-A3B691426C0C}"/>
              </a:ext>
            </a:extLst>
          </p:cNvPr>
          <p:cNvSpPr/>
          <p:nvPr/>
        </p:nvSpPr>
        <p:spPr>
          <a:xfrm>
            <a:off x="8202168" y="2788920"/>
            <a:ext cx="3438145" cy="548640"/>
          </a:xfrm>
          <a:prstGeom prst="roundRect">
            <a:avLst/>
          </a:prstGeom>
          <a:solidFill>
            <a:srgbClr val="253F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37DDDF-7188-3B2B-1E77-542934903A22}"/>
              </a:ext>
            </a:extLst>
          </p:cNvPr>
          <p:cNvSpPr txBox="1"/>
          <p:nvPr/>
        </p:nvSpPr>
        <p:spPr>
          <a:xfrm>
            <a:off x="8293608" y="2788920"/>
            <a:ext cx="3328416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100">
                <a:solidFill>
                  <a:srgbClr val="FFFFFF"/>
                </a:solidFill>
                <a:latin typeface="Calibri" panose="020F0502020204030204" pitchFamily="34" charset="0"/>
              </a:rPr>
              <a:t>Fine-tuned domain LLM model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5E86DE0-EB24-5D39-68A7-0D9BC03BAF6D}"/>
              </a:ext>
            </a:extLst>
          </p:cNvPr>
          <p:cNvSpPr/>
          <p:nvPr/>
        </p:nvSpPr>
        <p:spPr>
          <a:xfrm>
            <a:off x="8202168" y="3474720"/>
            <a:ext cx="3438145" cy="548640"/>
          </a:xfrm>
          <a:prstGeom prst="roundRect">
            <a:avLst/>
          </a:prstGeom>
          <a:solidFill>
            <a:srgbClr val="253F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857704-CEC6-124D-0237-E4CDCBA45979}"/>
              </a:ext>
            </a:extLst>
          </p:cNvPr>
          <p:cNvSpPr txBox="1"/>
          <p:nvPr/>
        </p:nvSpPr>
        <p:spPr>
          <a:xfrm>
            <a:off x="8293608" y="3474720"/>
            <a:ext cx="3328416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100">
                <a:solidFill>
                  <a:srgbClr val="FFFFFF"/>
                </a:solidFill>
                <a:latin typeface="Calibri" panose="020F0502020204030204" pitchFamily="34" charset="0"/>
              </a:rPr>
              <a:t>GitOps with ArgoCD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35208DF-E2F6-A405-9D1D-8C939480BD49}"/>
              </a:ext>
            </a:extLst>
          </p:cNvPr>
          <p:cNvSpPr/>
          <p:nvPr/>
        </p:nvSpPr>
        <p:spPr>
          <a:xfrm>
            <a:off x="8202168" y="4160520"/>
            <a:ext cx="3438145" cy="548640"/>
          </a:xfrm>
          <a:prstGeom prst="roundRect">
            <a:avLst/>
          </a:prstGeom>
          <a:solidFill>
            <a:srgbClr val="253F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56A2D41-6C57-DA7E-6897-3D5B5F0EE721}"/>
              </a:ext>
            </a:extLst>
          </p:cNvPr>
          <p:cNvSpPr txBox="1"/>
          <p:nvPr/>
        </p:nvSpPr>
        <p:spPr>
          <a:xfrm>
            <a:off x="8293608" y="4160520"/>
            <a:ext cx="3328416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100">
                <a:solidFill>
                  <a:srgbClr val="FFFFFF"/>
                </a:solidFill>
                <a:latin typeface="Calibri" panose="020F0502020204030204" pitchFamily="34" charset="0"/>
              </a:rPr>
              <a:t>Grafana auto-trigger alerts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8016E06-42F1-6163-03D0-19AFED644DBD}"/>
              </a:ext>
            </a:extLst>
          </p:cNvPr>
          <p:cNvSpPr/>
          <p:nvPr/>
        </p:nvSpPr>
        <p:spPr>
          <a:xfrm>
            <a:off x="8202168" y="4846320"/>
            <a:ext cx="3438145" cy="548640"/>
          </a:xfrm>
          <a:prstGeom prst="roundRect">
            <a:avLst/>
          </a:prstGeom>
          <a:solidFill>
            <a:srgbClr val="253F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FE4CBC5-9158-0AA4-55B0-41B6C78437ED}"/>
              </a:ext>
            </a:extLst>
          </p:cNvPr>
          <p:cNvSpPr txBox="1"/>
          <p:nvPr/>
        </p:nvSpPr>
        <p:spPr>
          <a:xfrm>
            <a:off x="8293608" y="4846320"/>
            <a:ext cx="3328416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100">
                <a:solidFill>
                  <a:srgbClr val="FFFFFF"/>
                </a:solidFill>
                <a:latin typeface="Calibri" panose="020F0502020204030204" pitchFamily="34" charset="0"/>
              </a:rPr>
              <a:t>Predictive auto-scaling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EE06AD2-22A0-18D1-3B6D-A767ACF5E778}"/>
              </a:ext>
            </a:extLst>
          </p:cNvPr>
          <p:cNvSpPr/>
          <p:nvPr/>
        </p:nvSpPr>
        <p:spPr>
          <a:xfrm>
            <a:off x="320040" y="5742432"/>
            <a:ext cx="11548872" cy="777240"/>
          </a:xfrm>
          <a:prstGeom prst="roundRect">
            <a:avLst/>
          </a:prstGeom>
          <a:solidFill>
            <a:srgbClr val="F47B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9A4F36-B33F-2F8C-7693-5F95F117165E}"/>
              </a:ext>
            </a:extLst>
          </p:cNvPr>
          <p:cNvSpPr txBox="1"/>
          <p:nvPr/>
        </p:nvSpPr>
        <p:spPr>
          <a:xfrm>
            <a:off x="320040" y="5742432"/>
            <a:ext cx="11548872" cy="41148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REQUEST: Approve production deployment - USD 97/month for full Agentic AI observability platform</a:t>
            </a:r>
            <a:endParaRPr lang="en-IN" sz="13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0FF1E0C-ABE1-6C91-10E8-FD51437ED3EE}"/>
              </a:ext>
            </a:extLst>
          </p:cNvPr>
          <p:cNvSpPr txBox="1"/>
          <p:nvPr/>
        </p:nvSpPr>
        <p:spPr>
          <a:xfrm>
            <a:off x="320040" y="6153912"/>
            <a:ext cx="11548872" cy="3200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100">
                <a:solidFill>
                  <a:srgbClr val="FFFFFF"/>
                </a:solidFill>
                <a:latin typeface="Calibri" panose="020F0502020204030204" pitchFamily="34" charset="0"/>
              </a:rPr>
              <a:t>Engineering Excellence  |  2026  |  Questions?</a:t>
            </a:r>
          </a:p>
        </p:txBody>
      </p:sp>
    </p:spTree>
    <p:extLst>
      <p:ext uri="{BB962C8B-B14F-4D97-AF65-F5344CB8AC3E}">
        <p14:creationId xmlns:p14="http://schemas.microsoft.com/office/powerpoint/2010/main" val="2138694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484</Words>
  <Application>Microsoft Office PowerPoint</Application>
  <PresentationFormat>Custom</PresentationFormat>
  <Paragraphs>114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Vuppalapati, Sudhakar (Cognizant)</dc:creator>
  <cp:lastModifiedBy>Vuppalapati, Sudhakar (Cognizant)</cp:lastModifiedBy>
  <cp:revision>1</cp:revision>
  <dcterms:created xsi:type="dcterms:W3CDTF">2026-07-09T09:49:14Z</dcterms:created>
  <dcterms:modified xsi:type="dcterms:W3CDTF">2026-07-09T09:49:14Z</dcterms:modified>
</cp:coreProperties>
</file>